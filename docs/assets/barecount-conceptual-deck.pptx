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640080"/>
            <a:ext cx="292608" cy="292608"/>
          </a:xfrm>
          <a:prstGeom prst="rect">
            <a:avLst/>
          </a:prstGeom>
          <a:solidFill>
            <a:srgbClr val="B8945F"/>
          </a:solidFill>
          <a:ln/>
        </p:spPr>
      </p:sp>
      <p:sp>
        <p:nvSpPr>
          <p:cNvPr id="3" name="Text 1"/>
          <p:cNvSpPr/>
          <p:nvPr/>
        </p:nvSpPr>
        <p:spPr>
          <a:xfrm>
            <a:off x="1051560" y="640080"/>
            <a:ext cx="3657600" cy="292608"/>
          </a:xfrm>
          <a:prstGeom prst="rect">
            <a:avLst/>
          </a:prstGeom>
          <a:noFill/>
          <a:ln/>
        </p:spPr>
        <p:txBody>
          <a:bodyPr wrap="square" lIns="0" tIns="0" rIns="0" bIns="0" rtlCol="0" anchor="ctr"/>
          <a:lstStyle/>
          <a:p>
            <a:pPr indent="0" marL="0">
              <a:buNone/>
            </a:pPr>
            <a:r>
              <a:rPr lang="en-US" sz="1100" spc="400" kern="0" dirty="0">
                <a:solidFill>
                  <a:srgbClr val="E5E9F0"/>
                </a:solidFill>
                <a:latin typeface="Calibri" pitchFamily="34" charset="0"/>
                <a:ea typeface="Calibri" pitchFamily="34" charset="-122"/>
                <a:cs typeface="Calibri" pitchFamily="34" charset="-120"/>
              </a:rPr>
              <a:t>bc-docs-v3</a:t>
            </a:r>
            <a:endParaRPr lang="en-US" sz="1100" dirty="0"/>
          </a:p>
        </p:txBody>
      </p:sp>
      <p:sp>
        <p:nvSpPr>
          <p:cNvPr id="4" name="Text 2"/>
          <p:cNvSpPr/>
          <p:nvPr/>
        </p:nvSpPr>
        <p:spPr>
          <a:xfrm>
            <a:off x="640080" y="2194560"/>
            <a:ext cx="10911535" cy="1005840"/>
          </a:xfrm>
          <a:prstGeom prst="rect">
            <a:avLst/>
          </a:prstGeom>
          <a:noFill/>
          <a:ln/>
        </p:spPr>
        <p:txBody>
          <a:bodyPr wrap="square" lIns="0" tIns="0" rIns="0" bIns="0" rtlCol="0" anchor="b"/>
          <a:lstStyle/>
          <a:p>
            <a:pPr algn="l" indent="0" marL="0">
              <a:buNone/>
            </a:pPr>
            <a:r>
              <a:rPr lang="en-US" sz="7200" b="1" spc="-100" kern="0" dirty="0">
                <a:solidFill>
                  <a:srgbClr val="B8945F"/>
                </a:solidFill>
                <a:latin typeface="Georgia" pitchFamily="34" charset="0"/>
                <a:ea typeface="Georgia" pitchFamily="34" charset="-122"/>
                <a:cs typeface="Georgia" pitchFamily="34" charset="-120"/>
              </a:rPr>
              <a:t>BareCount</a:t>
            </a:r>
            <a:endParaRPr lang="en-US" sz="7200" dirty="0"/>
          </a:p>
        </p:txBody>
      </p:sp>
      <p:sp>
        <p:nvSpPr>
          <p:cNvPr id="5" name="Text 3"/>
          <p:cNvSpPr/>
          <p:nvPr/>
        </p:nvSpPr>
        <p:spPr>
          <a:xfrm>
            <a:off x="640080" y="3246120"/>
            <a:ext cx="10911535" cy="548640"/>
          </a:xfrm>
          <a:prstGeom prst="rect">
            <a:avLst/>
          </a:prstGeom>
          <a:noFill/>
          <a:ln/>
        </p:spPr>
        <p:txBody>
          <a:bodyPr wrap="square" lIns="0" tIns="0" rIns="0" bIns="0" rtlCol="0" anchor="t"/>
          <a:lstStyle/>
          <a:p>
            <a:pPr algn="l" indent="0" marL="0">
              <a:buNone/>
            </a:pPr>
            <a:r>
              <a:rPr lang="en-US" sz="2600" i="1" dirty="0">
                <a:solidFill>
                  <a:srgbClr val="E5E9F0"/>
                </a:solidFill>
                <a:latin typeface="Georgia" pitchFamily="34" charset="0"/>
                <a:ea typeface="Georgia" pitchFamily="34" charset="-122"/>
                <a:cs typeface="Georgia" pitchFamily="34" charset="-120"/>
              </a:rPr>
              <a:t>The enterprise observation platform</a:t>
            </a:r>
            <a:endParaRPr lang="en-US" sz="2600" dirty="0"/>
          </a:p>
        </p:txBody>
      </p:sp>
      <p:sp>
        <p:nvSpPr>
          <p:cNvPr id="6" name="Shape 4"/>
          <p:cNvSpPr/>
          <p:nvPr/>
        </p:nvSpPr>
        <p:spPr>
          <a:xfrm>
            <a:off x="640080" y="4069080"/>
            <a:ext cx="1463040" cy="36576"/>
          </a:xfrm>
          <a:prstGeom prst="rect">
            <a:avLst/>
          </a:prstGeom>
          <a:solidFill>
            <a:srgbClr val="B8945F"/>
          </a:solidFill>
          <a:ln/>
        </p:spPr>
      </p:sp>
      <p:sp>
        <p:nvSpPr>
          <p:cNvPr id="7" name="Text 5"/>
          <p:cNvSpPr/>
          <p:nvPr/>
        </p:nvSpPr>
        <p:spPr>
          <a:xfrm>
            <a:off x="640080" y="4251960"/>
            <a:ext cx="10911535" cy="365760"/>
          </a:xfrm>
          <a:prstGeom prst="rect">
            <a:avLst/>
          </a:prstGeom>
          <a:noFill/>
          <a:ln/>
        </p:spPr>
        <p:txBody>
          <a:bodyPr wrap="square" lIns="0" tIns="0" rIns="0" bIns="0" rtlCol="0" anchor="ctr"/>
          <a:lstStyle/>
          <a:p>
            <a:pPr indent="0" marL="0">
              <a:buNone/>
            </a:pPr>
            <a:r>
              <a:rPr lang="en-US" sz="1400" dirty="0">
                <a:solidFill>
                  <a:srgbClr val="E5E9F0"/>
                </a:solidFill>
                <a:latin typeface="Calibri" pitchFamily="34" charset="0"/>
                <a:ea typeface="Calibri" pitchFamily="34" charset="-122"/>
                <a:cs typeface="Calibri" pitchFamily="34" charset="-120"/>
              </a:rPr>
              <a:t>Conceptual reference. Architecture, not marketing.</a:t>
            </a:r>
            <a:endParaRPr lang="en-US" sz="1400" dirty="0"/>
          </a:p>
        </p:txBody>
      </p:sp>
      <p:sp>
        <p:nvSpPr>
          <p:cNvPr id="8" name="Text 6"/>
          <p:cNvSpPr/>
          <p:nvPr/>
        </p:nvSpPr>
        <p:spPr>
          <a:xfrm>
            <a:off x="640080" y="5989320"/>
            <a:ext cx="10911535" cy="320040"/>
          </a:xfrm>
          <a:prstGeom prst="rect">
            <a:avLst/>
          </a:prstGeom>
          <a:noFill/>
          <a:ln/>
        </p:spPr>
        <p:txBody>
          <a:bodyPr wrap="square" lIns="0" tIns="0" rIns="0" bIns="0" rtlCol="0" anchor="ctr"/>
          <a:lstStyle/>
          <a:p>
            <a:pPr indent="0" marL="0">
              <a:buNone/>
            </a:pPr>
            <a:r>
              <a:rPr lang="en-US" sz="1000" spc="200" kern="0" dirty="0">
                <a:solidFill>
                  <a:srgbClr val="5B6478"/>
                </a:solidFill>
                <a:latin typeface="Calibri" pitchFamily="34" charset="0"/>
                <a:ea typeface="Calibri" pitchFamily="34" charset="-122"/>
                <a:cs typeface="Calibri" pitchFamily="34" charset="-120"/>
              </a:rPr>
              <a:t>Foundation  ·  Operating Model  ·  Implementation  ·  AI  ·  Development  ·  Onboarding  ·  Operations  ·  Compliance</a:t>
            </a:r>
            <a:endParaRPr lang="en-US" sz="1000" dirty="0"/>
          </a:p>
        </p:txBody>
      </p:sp>
      <p:sp>
        <p:nvSpPr>
          <p:cNvPr id="9" name="Text 7"/>
          <p:cNvSpPr/>
          <p:nvPr/>
        </p:nvSpPr>
        <p:spPr>
          <a:xfrm>
            <a:off x="640080" y="6309360"/>
            <a:ext cx="10911535" cy="274320"/>
          </a:xfrm>
          <a:prstGeom prst="rect">
            <a:avLst/>
          </a:prstGeom>
          <a:noFill/>
          <a:ln/>
        </p:spPr>
        <p:txBody>
          <a:bodyPr wrap="square" lIns="0" tIns="0" rIns="0" bIns="0" rtlCol="0" anchor="ctr"/>
          <a:lstStyle/>
          <a:p>
            <a:pPr indent="0" marL="0">
              <a:buNone/>
            </a:pPr>
            <a:r>
              <a:rPr lang="en-US" sz="900" i="1" dirty="0">
                <a:solidFill>
                  <a:srgbClr val="8E6F3F"/>
                </a:solidFill>
                <a:latin typeface="Calibri" pitchFamily="34" charset="0"/>
                <a:ea typeface="Calibri" pitchFamily="34" charset="-122"/>
                <a:cs typeface="Calibri" pitchFamily="34" charset="-120"/>
              </a:rPr>
              <a:t>The documentation. One home plus eight sections.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640080" y="667512"/>
            <a:ext cx="164592" cy="164592"/>
          </a:xfrm>
          <a:prstGeom prst="rect">
            <a:avLst/>
          </a:prstGeom>
          <a:solidFill>
            <a:srgbClr val="B8945F"/>
          </a:solidFill>
          <a:ln/>
        </p:spPr>
      </p:sp>
      <p:sp>
        <p:nvSpPr>
          <p:cNvPr id="3" name="Text 1"/>
          <p:cNvSpPr/>
          <p:nvPr/>
        </p:nvSpPr>
        <p:spPr>
          <a:xfrm>
            <a:off x="987552" y="502920"/>
            <a:ext cx="10911535"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Georgia" pitchFamily="34" charset="0"/>
                <a:ea typeface="Georgia" pitchFamily="34" charset="-122"/>
                <a:cs typeface="Georgia" pitchFamily="34" charset="-120"/>
              </a:rPr>
              <a:t>The frame that does not hold</a:t>
            </a:r>
            <a:endParaRPr lang="en-US" sz="3000" dirty="0"/>
          </a:p>
        </p:txBody>
      </p:sp>
      <p:sp>
        <p:nvSpPr>
          <p:cNvPr id="4" name="Text 2"/>
          <p:cNvSpPr/>
          <p:nvPr/>
        </p:nvSpPr>
        <p:spPr>
          <a:xfrm>
            <a:off x="640080" y="1280160"/>
            <a:ext cx="10911535" cy="640080"/>
          </a:xfrm>
          <a:prstGeom prst="rect">
            <a:avLst/>
          </a:prstGeom>
          <a:noFill/>
          <a:ln/>
        </p:spPr>
        <p:txBody>
          <a:bodyPr wrap="square" lIns="0" tIns="0" rIns="0" bIns="0" rtlCol="0" anchor="ctr"/>
          <a:lstStyle/>
          <a:p>
            <a:pPr indent="0" marL="0">
              <a:buNone/>
            </a:pPr>
            <a:r>
              <a:rPr lang="en-US" sz="1400" i="1" dirty="0">
                <a:solidFill>
                  <a:srgbClr val="5B6478"/>
                </a:solidFill>
                <a:latin typeface="Calibri" pitchFamily="34" charset="0"/>
                <a:ea typeface="Calibri" pitchFamily="34" charset="-122"/>
                <a:cs typeface="Calibri" pitchFamily="34" charset="-120"/>
              </a:rPr>
              <a:t>An intelligence layer placed on top of one vendor's modules answers the wrong question. The enterprise does not run on one vendor.</a:t>
            </a:r>
            <a:endParaRPr lang="en-US" sz="1400" dirty="0"/>
          </a:p>
        </p:txBody>
      </p:sp>
      <p:sp>
        <p:nvSpPr>
          <p:cNvPr id="5" name="Shape 3"/>
          <p:cNvSpPr/>
          <p:nvPr/>
        </p:nvSpPr>
        <p:spPr>
          <a:xfrm>
            <a:off x="640080" y="2103120"/>
            <a:ext cx="5349240" cy="3657600"/>
          </a:xfrm>
          <a:prstGeom prst="rect">
            <a:avLst/>
          </a:prstGeom>
          <a:solidFill>
            <a:srgbClr val="FFFFFF"/>
          </a:solidFill>
          <a:ln w="9525">
            <a:solidFill>
              <a:srgbClr val="CFD6E1"/>
            </a:solidFill>
            <a:prstDash val="solid"/>
          </a:ln>
        </p:spPr>
      </p:sp>
      <p:sp>
        <p:nvSpPr>
          <p:cNvPr id="6" name="Shape 4"/>
          <p:cNvSpPr/>
          <p:nvPr/>
        </p:nvSpPr>
        <p:spPr>
          <a:xfrm>
            <a:off x="640080" y="2103120"/>
            <a:ext cx="73152" cy="3657600"/>
          </a:xfrm>
          <a:prstGeom prst="rect">
            <a:avLst/>
          </a:prstGeom>
          <a:solidFill>
            <a:srgbClr val="B8945F"/>
          </a:solidFill>
          <a:ln/>
        </p:spPr>
      </p:sp>
      <p:sp>
        <p:nvSpPr>
          <p:cNvPr id="7" name="Text 5"/>
          <p:cNvSpPr/>
          <p:nvPr/>
        </p:nvSpPr>
        <p:spPr>
          <a:xfrm>
            <a:off x="868680" y="2286000"/>
            <a:ext cx="4983480" cy="320040"/>
          </a:xfrm>
          <a:prstGeom prst="rect">
            <a:avLst/>
          </a:prstGeom>
          <a:noFill/>
          <a:ln/>
        </p:spPr>
        <p:txBody>
          <a:bodyPr wrap="square" lIns="0" tIns="0" rIns="0" bIns="0" rtlCol="0" anchor="ctr"/>
          <a:lstStyle/>
          <a:p>
            <a:pPr indent="0" marL="0">
              <a:buNone/>
            </a:pPr>
            <a:r>
              <a:rPr lang="en-US" sz="1600" b="1" spc="100" kern="0" dirty="0">
                <a:solidFill>
                  <a:srgbClr val="0F172A"/>
                </a:solidFill>
                <a:latin typeface="Georgia" pitchFamily="34" charset="0"/>
                <a:ea typeface="Georgia" pitchFamily="34" charset="-122"/>
                <a:cs typeface="Georgia" pitchFamily="34" charset="-120"/>
              </a:rPr>
              <a:t>What is offered</a:t>
            </a:r>
            <a:endParaRPr lang="en-US" sz="1600" dirty="0"/>
          </a:p>
        </p:txBody>
      </p:sp>
      <p:sp>
        <p:nvSpPr>
          <p:cNvPr id="8" name="Text 6"/>
          <p:cNvSpPr/>
          <p:nvPr/>
        </p:nvSpPr>
        <p:spPr>
          <a:xfrm>
            <a:off x="868680" y="2743200"/>
            <a:ext cx="4983480" cy="28346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Natural-language interfaces over one vendor's modules.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Agents bounded to one vendor's data graph.</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Migration accelerated within one vendor's cloud.</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Governance scoped to one vendor's runtime.</a:t>
            </a:r>
            <a:endParaRPr lang="en-US" sz="1400" dirty="0"/>
          </a:p>
        </p:txBody>
      </p:sp>
      <p:sp>
        <p:nvSpPr>
          <p:cNvPr id="9" name="Shape 7"/>
          <p:cNvSpPr/>
          <p:nvPr/>
        </p:nvSpPr>
        <p:spPr>
          <a:xfrm>
            <a:off x="6400800" y="2103120"/>
            <a:ext cx="5349240" cy="3657600"/>
          </a:xfrm>
          <a:prstGeom prst="rect">
            <a:avLst/>
          </a:prstGeom>
          <a:solidFill>
            <a:srgbClr val="F2F4F8"/>
          </a:solidFill>
          <a:ln w="9525">
            <a:solidFill>
              <a:srgbClr val="CFD6E1"/>
            </a:solidFill>
            <a:prstDash val="solid"/>
          </a:ln>
        </p:spPr>
      </p:sp>
      <p:sp>
        <p:nvSpPr>
          <p:cNvPr id="10" name="Shape 8"/>
          <p:cNvSpPr/>
          <p:nvPr/>
        </p:nvSpPr>
        <p:spPr>
          <a:xfrm>
            <a:off x="6400800" y="2103120"/>
            <a:ext cx="73152" cy="3657600"/>
          </a:xfrm>
          <a:prstGeom prst="rect">
            <a:avLst/>
          </a:prstGeom>
          <a:solidFill>
            <a:srgbClr val="0F172A"/>
          </a:solidFill>
          <a:ln/>
        </p:spPr>
      </p:sp>
      <p:sp>
        <p:nvSpPr>
          <p:cNvPr id="11" name="Text 9"/>
          <p:cNvSpPr/>
          <p:nvPr/>
        </p:nvSpPr>
        <p:spPr>
          <a:xfrm>
            <a:off x="6629400" y="2286000"/>
            <a:ext cx="4983480" cy="320040"/>
          </a:xfrm>
          <a:prstGeom prst="rect">
            <a:avLst/>
          </a:prstGeom>
          <a:noFill/>
          <a:ln/>
        </p:spPr>
        <p:txBody>
          <a:bodyPr wrap="square" lIns="0" tIns="0" rIns="0" bIns="0" rtlCol="0" anchor="ctr"/>
          <a:lstStyle/>
          <a:p>
            <a:pPr indent="0" marL="0">
              <a:buNone/>
            </a:pPr>
            <a:r>
              <a:rPr lang="en-US" sz="1600" b="1" spc="100" kern="0" dirty="0">
                <a:solidFill>
                  <a:srgbClr val="0F172A"/>
                </a:solidFill>
                <a:latin typeface="Georgia" pitchFamily="34" charset="0"/>
                <a:ea typeface="Georgia" pitchFamily="34" charset="-122"/>
                <a:cs typeface="Georgia" pitchFamily="34" charset="-120"/>
              </a:rPr>
              <a:t>What is left unsolved</a:t>
            </a:r>
            <a:endParaRPr lang="en-US" sz="1600" dirty="0"/>
          </a:p>
        </p:txBody>
      </p:sp>
      <p:sp>
        <p:nvSpPr>
          <p:cNvPr id="12" name="Text 10"/>
          <p:cNvSpPr/>
          <p:nvPr/>
        </p:nvSpPr>
        <p:spPr>
          <a:xfrm>
            <a:off x="6629400" y="2743200"/>
            <a:ext cx="4983480" cy="28346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Meaning still assigned and reassigned at read time.</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Audit still reconstructed from logs and replays.</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Reference still resolves to whichever version is current.</a:t>
            </a:r>
            <a:endParaRPr lang="en-US" sz="1400" dirty="0"/>
          </a:p>
          <a:p>
            <a:pPr marL="342900" indent="-342900">
              <a:spcAft>
                <a:spcPts val="800"/>
              </a:spcAft>
              <a:buSzPct val="100000"/>
              <a:buChar char="•"/>
            </a:pPr>
            <a:r>
              <a:rPr lang="en-US" sz="1400" dirty="0">
                <a:solidFill>
                  <a:srgbClr val="0F172A"/>
                </a:solidFill>
                <a:latin typeface="Calibri" pitchFamily="34" charset="0"/>
                <a:ea typeface="Calibri" pitchFamily="34" charset="-122"/>
                <a:cs typeface="Calibri" pitchFamily="34" charset="-120"/>
              </a:rPr>
              <a:t>Facts in every other source remain outside the frame.</a:t>
            </a:r>
            <a:endParaRPr lang="en-US" sz="1400" dirty="0"/>
          </a:p>
        </p:txBody>
      </p:sp>
      <p:sp>
        <p:nvSpPr>
          <p:cNvPr id="13" name="Text 11"/>
          <p:cNvSpPr/>
          <p:nvPr/>
        </p:nvSpPr>
        <p:spPr>
          <a:xfrm>
            <a:off x="640080" y="6473952"/>
            <a:ext cx="73152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BareCount  ·  conceptual reference  ·  bc-docs-v3</a:t>
            </a:r>
            <a:endParaRPr lang="en-US" sz="900" dirty="0"/>
          </a:p>
        </p:txBody>
      </p:sp>
      <p:sp>
        <p:nvSpPr>
          <p:cNvPr id="14" name="Text 12"/>
          <p:cNvSpPr/>
          <p:nvPr/>
        </p:nvSpPr>
        <p:spPr>
          <a:xfrm>
            <a:off x="640080" y="6291072"/>
            <a:ext cx="10911535" cy="201168"/>
          </a:xfrm>
          <a:prstGeom prst="rect">
            <a:avLst/>
          </a:prstGeom>
          <a:noFill/>
          <a:ln/>
        </p:spPr>
        <p:txBody>
          <a:bodyPr wrap="square" lIns="0" tIns="0" rIns="0" bIns="0" rtlCol="0" anchor="ctr"/>
          <a:lstStyle/>
          <a:p>
            <a:pPr algn="l" indent="0" marL="0">
              <a:buNone/>
            </a:pPr>
            <a:r>
              <a:rPr lang="en-US" sz="900" i="1" dirty="0">
                <a:solidFill>
                  <a:srgbClr val="8E6F3F"/>
                </a:solidFill>
                <a:latin typeface="Calibri" pitchFamily="34" charset="0"/>
                <a:ea typeface="Calibri" pitchFamily="34" charset="-122"/>
                <a:cs typeface="Calibri" pitchFamily="34" charset="-120"/>
              </a:rPr>
              <a:t>Foundation. The Problem.</a:t>
            </a:r>
            <a:endParaRPr lang="en-US" sz="900" dirty="0"/>
          </a:p>
        </p:txBody>
      </p:sp>
      <p:sp>
        <p:nvSpPr>
          <p:cNvPr id="15" name="Text 13"/>
          <p:cNvSpPr/>
          <p:nvPr/>
        </p:nvSpPr>
        <p:spPr>
          <a:xfrm>
            <a:off x="11277295" y="6473952"/>
            <a:ext cx="2743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640080" y="667512"/>
            <a:ext cx="164592" cy="164592"/>
          </a:xfrm>
          <a:prstGeom prst="rect">
            <a:avLst/>
          </a:prstGeom>
          <a:solidFill>
            <a:srgbClr val="B8945F"/>
          </a:solidFill>
          <a:ln/>
        </p:spPr>
      </p:sp>
      <p:sp>
        <p:nvSpPr>
          <p:cNvPr id="3" name="Text 1"/>
          <p:cNvSpPr/>
          <p:nvPr/>
        </p:nvSpPr>
        <p:spPr>
          <a:xfrm>
            <a:off x="987552" y="502920"/>
            <a:ext cx="10911535"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Georgia" pitchFamily="34" charset="0"/>
                <a:ea typeface="Georgia" pitchFamily="34" charset="-122"/>
                <a:cs typeface="Georgia" pitchFamily="34" charset="-120"/>
              </a:rPr>
              <a:t>Three failure classes that no AI layer fixes</a:t>
            </a:r>
            <a:endParaRPr lang="en-US" sz="3000" dirty="0"/>
          </a:p>
        </p:txBody>
      </p:sp>
      <p:sp>
        <p:nvSpPr>
          <p:cNvPr id="4" name="Text 2"/>
          <p:cNvSpPr/>
          <p:nvPr/>
        </p:nvSpPr>
        <p:spPr>
          <a:xfrm>
            <a:off x="640080" y="1280160"/>
            <a:ext cx="10911535" cy="41148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Architectural rather than operational. Each degrades reliability, traceability, or both.</a:t>
            </a:r>
            <a:endParaRPr lang="en-US" sz="1300" dirty="0"/>
          </a:p>
        </p:txBody>
      </p:sp>
      <p:sp>
        <p:nvSpPr>
          <p:cNvPr id="5" name="Shape 3"/>
          <p:cNvSpPr/>
          <p:nvPr/>
        </p:nvSpPr>
        <p:spPr>
          <a:xfrm>
            <a:off x="640080" y="1828800"/>
            <a:ext cx="3454298" cy="4206240"/>
          </a:xfrm>
          <a:prstGeom prst="rect">
            <a:avLst/>
          </a:prstGeom>
          <a:solidFill>
            <a:srgbClr val="FFFFFF"/>
          </a:solidFill>
          <a:ln w="9525">
            <a:solidFill>
              <a:srgbClr val="CFD6E1"/>
            </a:solidFill>
            <a:prstDash val="solid"/>
          </a:ln>
        </p:spPr>
      </p:sp>
      <p:sp>
        <p:nvSpPr>
          <p:cNvPr id="6" name="Shape 4"/>
          <p:cNvSpPr/>
          <p:nvPr/>
        </p:nvSpPr>
        <p:spPr>
          <a:xfrm>
            <a:off x="640080" y="1828800"/>
            <a:ext cx="3454298" cy="73152"/>
          </a:xfrm>
          <a:prstGeom prst="rect">
            <a:avLst/>
          </a:prstGeom>
          <a:solidFill>
            <a:srgbClr val="B8945F"/>
          </a:solidFill>
          <a:ln/>
        </p:spPr>
      </p:sp>
      <p:sp>
        <p:nvSpPr>
          <p:cNvPr id="7" name="Text 5"/>
          <p:cNvSpPr/>
          <p:nvPr/>
        </p:nvSpPr>
        <p:spPr>
          <a:xfrm>
            <a:off x="960120" y="2148840"/>
            <a:ext cx="914400" cy="457200"/>
          </a:xfrm>
          <a:prstGeom prst="rect">
            <a:avLst/>
          </a:prstGeom>
          <a:noFill/>
          <a:ln/>
        </p:spPr>
        <p:txBody>
          <a:bodyPr wrap="square" lIns="0" tIns="0" rIns="0" bIns="0" rtlCol="0" anchor="ctr"/>
          <a:lstStyle/>
          <a:p>
            <a:pPr indent="0" marL="0">
              <a:buNone/>
            </a:pPr>
            <a:r>
              <a:rPr lang="en-US" sz="2800" b="1" dirty="0">
                <a:solidFill>
                  <a:srgbClr val="B8945F"/>
                </a:solidFill>
                <a:latin typeface="Georgia" pitchFamily="34" charset="0"/>
                <a:ea typeface="Georgia" pitchFamily="34" charset="-122"/>
                <a:cs typeface="Georgia" pitchFamily="34" charset="-120"/>
              </a:rPr>
              <a:t>01</a:t>
            </a:r>
            <a:endParaRPr lang="en-US" sz="2800" dirty="0"/>
          </a:p>
        </p:txBody>
      </p:sp>
      <p:sp>
        <p:nvSpPr>
          <p:cNvPr id="8" name="Text 6"/>
          <p:cNvSpPr/>
          <p:nvPr/>
        </p:nvSpPr>
        <p:spPr>
          <a:xfrm>
            <a:off x="960120" y="2697480"/>
            <a:ext cx="2814218" cy="82296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Meaning drift after observation</a:t>
            </a:r>
            <a:endParaRPr lang="en-US" sz="1800" dirty="0"/>
          </a:p>
        </p:txBody>
      </p:sp>
      <p:sp>
        <p:nvSpPr>
          <p:cNvPr id="9" name="Text 7"/>
          <p:cNvSpPr/>
          <p:nvPr/>
        </p:nvSpPr>
        <p:spPr>
          <a:xfrm>
            <a:off x="960120" y="3520440"/>
            <a:ext cx="2814218" cy="2286000"/>
          </a:xfrm>
          <a:prstGeom prst="rect">
            <a:avLst/>
          </a:prstGeom>
          <a:noFill/>
          <a:ln/>
        </p:spPr>
        <p:txBody>
          <a:bodyPr wrap="square" lIns="0" tIns="0" rIns="0" bIns="0" rtlCol="0" anchor="ctr"/>
          <a:lstStyle/>
          <a:p>
            <a:pPr indent="0" marL="0">
              <a:spcAft>
                <a:spcPts val="400"/>
              </a:spcAft>
              <a:buNone/>
            </a:pPr>
            <a:r>
              <a:rPr lang="en-US" sz="1300" dirty="0">
                <a:solidFill>
                  <a:srgbClr val="0F172A"/>
                </a:solidFill>
                <a:latin typeface="Calibri" pitchFamily="34" charset="0"/>
                <a:ea typeface="Calibri" pitchFamily="34" charset="-122"/>
                <a:cs typeface="Calibri" pitchFamily="34" charset="-120"/>
              </a:rPr>
              <a:t>Business meaning is assigned, reassigned, and reinterpreted along the execution path. The same observed value carries different meanings across components. Historical comparisons are unreliable.</a:t>
            </a:r>
            <a:endParaRPr lang="en-US" sz="1300" dirty="0"/>
          </a:p>
        </p:txBody>
      </p:sp>
      <p:sp>
        <p:nvSpPr>
          <p:cNvPr id="10" name="Shape 8"/>
          <p:cNvSpPr/>
          <p:nvPr/>
        </p:nvSpPr>
        <p:spPr>
          <a:xfrm>
            <a:off x="4368698" y="1828800"/>
            <a:ext cx="3454298" cy="4206240"/>
          </a:xfrm>
          <a:prstGeom prst="rect">
            <a:avLst/>
          </a:prstGeom>
          <a:solidFill>
            <a:srgbClr val="FFFFFF"/>
          </a:solidFill>
          <a:ln w="9525">
            <a:solidFill>
              <a:srgbClr val="CFD6E1"/>
            </a:solidFill>
            <a:prstDash val="solid"/>
          </a:ln>
        </p:spPr>
      </p:sp>
      <p:sp>
        <p:nvSpPr>
          <p:cNvPr id="11" name="Shape 9"/>
          <p:cNvSpPr/>
          <p:nvPr/>
        </p:nvSpPr>
        <p:spPr>
          <a:xfrm>
            <a:off x="4368698" y="1828800"/>
            <a:ext cx="3454298" cy="73152"/>
          </a:xfrm>
          <a:prstGeom prst="rect">
            <a:avLst/>
          </a:prstGeom>
          <a:solidFill>
            <a:srgbClr val="B8945F"/>
          </a:solidFill>
          <a:ln/>
        </p:spPr>
      </p:sp>
      <p:sp>
        <p:nvSpPr>
          <p:cNvPr id="12" name="Text 10"/>
          <p:cNvSpPr/>
          <p:nvPr/>
        </p:nvSpPr>
        <p:spPr>
          <a:xfrm>
            <a:off x="4688738" y="2148840"/>
            <a:ext cx="914400" cy="457200"/>
          </a:xfrm>
          <a:prstGeom prst="rect">
            <a:avLst/>
          </a:prstGeom>
          <a:noFill/>
          <a:ln/>
        </p:spPr>
        <p:txBody>
          <a:bodyPr wrap="square" lIns="0" tIns="0" rIns="0" bIns="0" rtlCol="0" anchor="ctr"/>
          <a:lstStyle/>
          <a:p>
            <a:pPr indent="0" marL="0">
              <a:buNone/>
            </a:pPr>
            <a:r>
              <a:rPr lang="en-US" sz="2800" b="1" dirty="0">
                <a:solidFill>
                  <a:srgbClr val="B8945F"/>
                </a:solidFill>
                <a:latin typeface="Georgia" pitchFamily="34" charset="0"/>
                <a:ea typeface="Georgia" pitchFamily="34" charset="-122"/>
                <a:cs typeface="Georgia" pitchFamily="34" charset="-120"/>
              </a:rPr>
              <a:t>02</a:t>
            </a:r>
            <a:endParaRPr lang="en-US" sz="2800" dirty="0"/>
          </a:p>
        </p:txBody>
      </p:sp>
      <p:sp>
        <p:nvSpPr>
          <p:cNvPr id="13" name="Text 11"/>
          <p:cNvSpPr/>
          <p:nvPr/>
        </p:nvSpPr>
        <p:spPr>
          <a:xfrm>
            <a:off x="4688738" y="2697480"/>
            <a:ext cx="2814218" cy="82296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Reconstruction-based audit</a:t>
            </a:r>
            <a:endParaRPr lang="en-US" sz="1800" dirty="0"/>
          </a:p>
        </p:txBody>
      </p:sp>
      <p:sp>
        <p:nvSpPr>
          <p:cNvPr id="14" name="Text 12"/>
          <p:cNvSpPr/>
          <p:nvPr/>
        </p:nvSpPr>
        <p:spPr>
          <a:xfrm>
            <a:off x="4688738" y="3520440"/>
            <a:ext cx="2814218" cy="2286000"/>
          </a:xfrm>
          <a:prstGeom prst="rect">
            <a:avLst/>
          </a:prstGeom>
          <a:noFill/>
          <a:ln/>
        </p:spPr>
        <p:txBody>
          <a:bodyPr wrap="square" lIns="0" tIns="0" rIns="0" bIns="0" rtlCol="0" anchor="ctr"/>
          <a:lstStyle/>
          <a:p>
            <a:pPr indent="0" marL="0">
              <a:spcAft>
                <a:spcPts val="400"/>
              </a:spcAft>
              <a:buNone/>
            </a:pPr>
            <a:r>
              <a:rPr lang="en-US" sz="1300" dirty="0">
                <a:solidFill>
                  <a:srgbClr val="0F172A"/>
                </a:solidFill>
                <a:latin typeface="Calibri" pitchFamily="34" charset="0"/>
                <a:ea typeface="Calibri" pitchFamily="34" charset="-122"/>
                <a:cs typeface="Calibri" pitchFamily="34" charset="-120"/>
              </a:rPr>
              <a:t>Historical outputs are explained by replaying the original observation, re-running intermediate operations, and reconstructing context. Inputs change. Logic changes. Configuration changes. The answer is an approximation.</a:t>
            </a:r>
            <a:endParaRPr lang="en-US" sz="1300" dirty="0"/>
          </a:p>
        </p:txBody>
      </p:sp>
      <p:sp>
        <p:nvSpPr>
          <p:cNvPr id="15" name="Shape 13"/>
          <p:cNvSpPr/>
          <p:nvPr/>
        </p:nvSpPr>
        <p:spPr>
          <a:xfrm>
            <a:off x="8097317" y="1828800"/>
            <a:ext cx="3454298" cy="4206240"/>
          </a:xfrm>
          <a:prstGeom prst="rect">
            <a:avLst/>
          </a:prstGeom>
          <a:solidFill>
            <a:srgbClr val="FFFFFF"/>
          </a:solidFill>
          <a:ln w="9525">
            <a:solidFill>
              <a:srgbClr val="CFD6E1"/>
            </a:solidFill>
            <a:prstDash val="solid"/>
          </a:ln>
        </p:spPr>
      </p:sp>
      <p:sp>
        <p:nvSpPr>
          <p:cNvPr id="16" name="Shape 14"/>
          <p:cNvSpPr/>
          <p:nvPr/>
        </p:nvSpPr>
        <p:spPr>
          <a:xfrm>
            <a:off x="8097317" y="1828800"/>
            <a:ext cx="3454298" cy="73152"/>
          </a:xfrm>
          <a:prstGeom prst="rect">
            <a:avLst/>
          </a:prstGeom>
          <a:solidFill>
            <a:srgbClr val="B8945F"/>
          </a:solidFill>
          <a:ln/>
        </p:spPr>
      </p:sp>
      <p:sp>
        <p:nvSpPr>
          <p:cNvPr id="17" name="Text 15"/>
          <p:cNvSpPr/>
          <p:nvPr/>
        </p:nvSpPr>
        <p:spPr>
          <a:xfrm>
            <a:off x="8417357" y="2148840"/>
            <a:ext cx="914400" cy="457200"/>
          </a:xfrm>
          <a:prstGeom prst="rect">
            <a:avLst/>
          </a:prstGeom>
          <a:noFill/>
          <a:ln/>
        </p:spPr>
        <p:txBody>
          <a:bodyPr wrap="square" lIns="0" tIns="0" rIns="0" bIns="0" rtlCol="0" anchor="ctr"/>
          <a:lstStyle/>
          <a:p>
            <a:pPr indent="0" marL="0">
              <a:buNone/>
            </a:pPr>
            <a:r>
              <a:rPr lang="en-US" sz="2800" b="1" dirty="0">
                <a:solidFill>
                  <a:srgbClr val="B8945F"/>
                </a:solidFill>
                <a:latin typeface="Georgia" pitchFamily="34" charset="0"/>
                <a:ea typeface="Georgia" pitchFamily="34" charset="-122"/>
                <a:cs typeface="Georgia" pitchFamily="34" charset="-120"/>
              </a:rPr>
              <a:t>03</a:t>
            </a:r>
            <a:endParaRPr lang="en-US" sz="2800" dirty="0"/>
          </a:p>
        </p:txBody>
      </p:sp>
      <p:sp>
        <p:nvSpPr>
          <p:cNvPr id="18" name="Text 16"/>
          <p:cNvSpPr/>
          <p:nvPr/>
        </p:nvSpPr>
        <p:spPr>
          <a:xfrm>
            <a:off x="8417357" y="2697480"/>
            <a:ext cx="2814218" cy="82296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Implicit reference</a:t>
            </a:r>
            <a:endParaRPr lang="en-US" sz="1800" dirty="0"/>
          </a:p>
        </p:txBody>
      </p:sp>
      <p:sp>
        <p:nvSpPr>
          <p:cNvPr id="19" name="Text 17"/>
          <p:cNvSpPr/>
          <p:nvPr/>
        </p:nvSpPr>
        <p:spPr>
          <a:xfrm>
            <a:off x="8417357" y="3520440"/>
            <a:ext cx="2814218" cy="2286000"/>
          </a:xfrm>
          <a:prstGeom prst="rect">
            <a:avLst/>
          </a:prstGeom>
          <a:noFill/>
          <a:ln/>
        </p:spPr>
        <p:txBody>
          <a:bodyPr wrap="square" lIns="0" tIns="0" rIns="0" bIns="0" rtlCol="0" anchor="ctr"/>
          <a:lstStyle/>
          <a:p>
            <a:pPr indent="0" marL="0">
              <a:spcAft>
                <a:spcPts val="400"/>
              </a:spcAft>
              <a:buNone/>
            </a:pPr>
            <a:r>
              <a:rPr lang="en-US" sz="1300" dirty="0">
                <a:solidFill>
                  <a:srgbClr val="0F172A"/>
                </a:solidFill>
                <a:latin typeface="Calibri" pitchFamily="34" charset="0"/>
                <a:ea typeface="Calibri" pitchFamily="34" charset="-122"/>
                <a:cs typeface="Calibri" pitchFamily="34" charset="-120"/>
              </a:rPr>
              <a:t>Consumers refer to data by identity alone. Requests for current state resolve at read time. The same reference returns different values at different times. Decisions cannot be traced to the state on which they were made.</a:t>
            </a:r>
            <a:endParaRPr lang="en-US" sz="1300" dirty="0"/>
          </a:p>
        </p:txBody>
      </p:sp>
      <p:sp>
        <p:nvSpPr>
          <p:cNvPr id="20" name="Text 18"/>
          <p:cNvSpPr/>
          <p:nvPr/>
        </p:nvSpPr>
        <p:spPr>
          <a:xfrm>
            <a:off x="640080" y="6473952"/>
            <a:ext cx="73152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BareCount  ·  conceptual reference  ·  bc-docs-v3</a:t>
            </a:r>
            <a:endParaRPr lang="en-US" sz="900" dirty="0"/>
          </a:p>
        </p:txBody>
      </p:sp>
      <p:sp>
        <p:nvSpPr>
          <p:cNvPr id="21" name="Text 19"/>
          <p:cNvSpPr/>
          <p:nvPr/>
        </p:nvSpPr>
        <p:spPr>
          <a:xfrm>
            <a:off x="640080" y="6291072"/>
            <a:ext cx="10911535" cy="201168"/>
          </a:xfrm>
          <a:prstGeom prst="rect">
            <a:avLst/>
          </a:prstGeom>
          <a:noFill/>
          <a:ln/>
        </p:spPr>
        <p:txBody>
          <a:bodyPr wrap="square" lIns="0" tIns="0" rIns="0" bIns="0" rtlCol="0" anchor="ctr"/>
          <a:lstStyle/>
          <a:p>
            <a:pPr algn="l" indent="0" marL="0">
              <a:buNone/>
            </a:pPr>
            <a:r>
              <a:rPr lang="en-US" sz="900" i="1" dirty="0">
                <a:solidFill>
                  <a:srgbClr val="8E6F3F"/>
                </a:solidFill>
                <a:latin typeface="Calibri" pitchFamily="34" charset="0"/>
                <a:ea typeface="Calibri" pitchFamily="34" charset="-122"/>
                <a:cs typeface="Calibri" pitchFamily="34" charset="-120"/>
              </a:rPr>
              <a:t>Foundation. The Problem.</a:t>
            </a:r>
            <a:endParaRPr lang="en-US" sz="900" dirty="0"/>
          </a:p>
        </p:txBody>
      </p:sp>
      <p:sp>
        <p:nvSpPr>
          <p:cNvPr id="22" name="Text 20"/>
          <p:cNvSpPr/>
          <p:nvPr/>
        </p:nvSpPr>
        <p:spPr>
          <a:xfrm>
            <a:off x="11277295" y="6473952"/>
            <a:ext cx="2743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640080" y="667512"/>
            <a:ext cx="164592" cy="164592"/>
          </a:xfrm>
          <a:prstGeom prst="rect">
            <a:avLst/>
          </a:prstGeom>
          <a:solidFill>
            <a:srgbClr val="B8945F"/>
          </a:solidFill>
          <a:ln/>
        </p:spPr>
      </p:sp>
      <p:sp>
        <p:nvSpPr>
          <p:cNvPr id="3" name="Text 1"/>
          <p:cNvSpPr/>
          <p:nvPr/>
        </p:nvSpPr>
        <p:spPr>
          <a:xfrm>
            <a:off x="987552" y="502920"/>
            <a:ext cx="10911535"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Georgia" pitchFamily="34" charset="0"/>
                <a:ea typeface="Georgia" pitchFamily="34" charset="-122"/>
                <a:cs typeface="Georgia" pitchFamily="34" charset="-120"/>
              </a:rPr>
              <a:t>Why procedural controls are insufficient</a:t>
            </a:r>
            <a:endParaRPr lang="en-US" sz="3000" dirty="0"/>
          </a:p>
        </p:txBody>
      </p:sp>
      <p:sp>
        <p:nvSpPr>
          <p:cNvPr id="4" name="Text 2"/>
          <p:cNvSpPr/>
          <p:nvPr/>
        </p:nvSpPr>
        <p:spPr>
          <a:xfrm>
            <a:off x="640080" y="1280160"/>
            <a:ext cx="10911535" cy="73152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Policies and review gates are useful. None is sufficient on its own. The failure modes follow from an architecture that embeds semantic interpretation in procedural code and treats evidence as a secondary artifact.</a:t>
            </a:r>
            <a:endParaRPr lang="en-US" sz="1300" dirty="0"/>
          </a:p>
        </p:txBody>
      </p:sp>
      <p:sp>
        <p:nvSpPr>
          <p:cNvPr id="5" name="Shape 3"/>
          <p:cNvSpPr/>
          <p:nvPr/>
        </p:nvSpPr>
        <p:spPr>
          <a:xfrm>
            <a:off x="640080" y="2240280"/>
            <a:ext cx="10911535" cy="1234440"/>
          </a:xfrm>
          <a:prstGeom prst="rect">
            <a:avLst/>
          </a:prstGeom>
          <a:solidFill>
            <a:srgbClr val="FFFFFF"/>
          </a:solidFill>
          <a:ln w="9525">
            <a:solidFill>
              <a:srgbClr val="CFD6E1"/>
            </a:solidFill>
            <a:prstDash val="solid"/>
          </a:ln>
        </p:spPr>
      </p:sp>
      <p:sp>
        <p:nvSpPr>
          <p:cNvPr id="6" name="Shape 4"/>
          <p:cNvSpPr/>
          <p:nvPr/>
        </p:nvSpPr>
        <p:spPr>
          <a:xfrm>
            <a:off x="640080" y="2240280"/>
            <a:ext cx="73152" cy="1234440"/>
          </a:xfrm>
          <a:prstGeom prst="rect">
            <a:avLst/>
          </a:prstGeom>
          <a:solidFill>
            <a:srgbClr val="B8945F"/>
          </a:solidFill>
          <a:ln/>
        </p:spPr>
      </p:sp>
      <p:sp>
        <p:nvSpPr>
          <p:cNvPr id="7" name="Text 5"/>
          <p:cNvSpPr/>
          <p:nvPr/>
        </p:nvSpPr>
        <p:spPr>
          <a:xfrm>
            <a:off x="868680" y="2404872"/>
            <a:ext cx="3657600" cy="36576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Participant dependence</a:t>
            </a:r>
            <a:endParaRPr lang="en-US" sz="1700" dirty="0"/>
          </a:p>
        </p:txBody>
      </p:sp>
      <p:sp>
        <p:nvSpPr>
          <p:cNvPr id="8" name="Text 6"/>
          <p:cNvSpPr/>
          <p:nvPr/>
        </p:nvSpPr>
        <p:spPr>
          <a:xfrm>
            <a:off x="4617720" y="2404872"/>
            <a:ext cx="6888175" cy="9601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 policy is effective only when every component and operator knows it, understands it, and implements it correctly. Each new participant is a new failure surface.</a:t>
            </a:r>
            <a:endParaRPr lang="en-US" sz="1300" dirty="0"/>
          </a:p>
        </p:txBody>
      </p:sp>
      <p:sp>
        <p:nvSpPr>
          <p:cNvPr id="9" name="Shape 7"/>
          <p:cNvSpPr/>
          <p:nvPr/>
        </p:nvSpPr>
        <p:spPr>
          <a:xfrm>
            <a:off x="640080" y="3639312"/>
            <a:ext cx="10911535" cy="1234440"/>
          </a:xfrm>
          <a:prstGeom prst="rect">
            <a:avLst/>
          </a:prstGeom>
          <a:solidFill>
            <a:srgbClr val="FFFFFF"/>
          </a:solidFill>
          <a:ln w="9525">
            <a:solidFill>
              <a:srgbClr val="CFD6E1"/>
            </a:solidFill>
            <a:prstDash val="solid"/>
          </a:ln>
        </p:spPr>
      </p:sp>
      <p:sp>
        <p:nvSpPr>
          <p:cNvPr id="10" name="Shape 8"/>
          <p:cNvSpPr/>
          <p:nvPr/>
        </p:nvSpPr>
        <p:spPr>
          <a:xfrm>
            <a:off x="640080" y="3639312"/>
            <a:ext cx="73152" cy="1234440"/>
          </a:xfrm>
          <a:prstGeom prst="rect">
            <a:avLst/>
          </a:prstGeom>
          <a:solidFill>
            <a:srgbClr val="B8945F"/>
          </a:solidFill>
          <a:ln/>
        </p:spPr>
      </p:sp>
      <p:sp>
        <p:nvSpPr>
          <p:cNvPr id="11" name="Text 9"/>
          <p:cNvSpPr/>
          <p:nvPr/>
        </p:nvSpPr>
        <p:spPr>
          <a:xfrm>
            <a:off x="868680" y="3803904"/>
            <a:ext cx="3657600" cy="36576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Drift from runtime</a:t>
            </a:r>
            <a:endParaRPr lang="en-US" sz="1700" dirty="0"/>
          </a:p>
        </p:txBody>
      </p:sp>
      <p:sp>
        <p:nvSpPr>
          <p:cNvPr id="12" name="Text 10"/>
          <p:cNvSpPr/>
          <p:nvPr/>
        </p:nvSpPr>
        <p:spPr>
          <a:xfrm>
            <a:off x="4617720" y="3803904"/>
            <a:ext cx="6888175" cy="9601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The policy recorded in governance documents and the behavior implemented in code are revised through different mechanisms. Over time, the two diverge.</a:t>
            </a:r>
            <a:endParaRPr lang="en-US" sz="1300" dirty="0"/>
          </a:p>
        </p:txBody>
      </p:sp>
      <p:sp>
        <p:nvSpPr>
          <p:cNvPr id="13" name="Shape 11"/>
          <p:cNvSpPr/>
          <p:nvPr/>
        </p:nvSpPr>
        <p:spPr>
          <a:xfrm>
            <a:off x="640080" y="5038344"/>
            <a:ext cx="10911535" cy="1234440"/>
          </a:xfrm>
          <a:prstGeom prst="rect">
            <a:avLst/>
          </a:prstGeom>
          <a:solidFill>
            <a:srgbClr val="FFFFFF"/>
          </a:solidFill>
          <a:ln w="9525">
            <a:solidFill>
              <a:srgbClr val="CFD6E1"/>
            </a:solidFill>
            <a:prstDash val="solid"/>
          </a:ln>
        </p:spPr>
      </p:sp>
      <p:sp>
        <p:nvSpPr>
          <p:cNvPr id="14" name="Shape 12"/>
          <p:cNvSpPr/>
          <p:nvPr/>
        </p:nvSpPr>
        <p:spPr>
          <a:xfrm>
            <a:off x="640080" y="5038344"/>
            <a:ext cx="73152" cy="1234440"/>
          </a:xfrm>
          <a:prstGeom prst="rect">
            <a:avLst/>
          </a:prstGeom>
          <a:solidFill>
            <a:srgbClr val="B8945F"/>
          </a:solidFill>
          <a:ln/>
        </p:spPr>
      </p:sp>
      <p:sp>
        <p:nvSpPr>
          <p:cNvPr id="15" name="Text 13"/>
          <p:cNvSpPr/>
          <p:nvPr/>
        </p:nvSpPr>
        <p:spPr>
          <a:xfrm>
            <a:off x="868680" y="5202936"/>
            <a:ext cx="3657600" cy="36576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Delayed detection</a:t>
            </a:r>
            <a:endParaRPr lang="en-US" sz="1700" dirty="0"/>
          </a:p>
        </p:txBody>
      </p:sp>
      <p:sp>
        <p:nvSpPr>
          <p:cNvPr id="16" name="Text 14"/>
          <p:cNvSpPr/>
          <p:nvPr/>
        </p:nvSpPr>
        <p:spPr>
          <a:xfrm>
            <a:off x="4617720" y="5202936"/>
            <a:ext cx="6888175" cy="96012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Review identifies violations after outputs have already been produced and consumed. The cost of correction grows with every downstream act that depended on the violated state.</a:t>
            </a:r>
            <a:endParaRPr lang="en-US" sz="1300" dirty="0"/>
          </a:p>
        </p:txBody>
      </p:sp>
      <p:sp>
        <p:nvSpPr>
          <p:cNvPr id="17" name="Text 15"/>
          <p:cNvSpPr/>
          <p:nvPr/>
        </p:nvSpPr>
        <p:spPr>
          <a:xfrm>
            <a:off x="640080" y="6473952"/>
            <a:ext cx="73152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BareCount  ·  conceptual reference  ·  bc-docs-v3</a:t>
            </a:r>
            <a:endParaRPr lang="en-US" sz="900" dirty="0"/>
          </a:p>
        </p:txBody>
      </p:sp>
      <p:sp>
        <p:nvSpPr>
          <p:cNvPr id="18" name="Text 16"/>
          <p:cNvSpPr/>
          <p:nvPr/>
        </p:nvSpPr>
        <p:spPr>
          <a:xfrm>
            <a:off x="640080" y="6291072"/>
            <a:ext cx="10911535" cy="201168"/>
          </a:xfrm>
          <a:prstGeom prst="rect">
            <a:avLst/>
          </a:prstGeom>
          <a:noFill/>
          <a:ln/>
        </p:spPr>
        <p:txBody>
          <a:bodyPr wrap="square" lIns="0" tIns="0" rIns="0" bIns="0" rtlCol="0" anchor="ctr"/>
          <a:lstStyle/>
          <a:p>
            <a:pPr algn="l" indent="0" marL="0">
              <a:buNone/>
            </a:pPr>
            <a:r>
              <a:rPr lang="en-US" sz="900" i="1" dirty="0">
                <a:solidFill>
                  <a:srgbClr val="8E6F3F"/>
                </a:solidFill>
                <a:latin typeface="Calibri" pitchFamily="34" charset="0"/>
                <a:ea typeface="Calibri" pitchFamily="34" charset="-122"/>
                <a:cs typeface="Calibri" pitchFamily="34" charset="-120"/>
              </a:rPr>
              <a:t>Foundation. The Problem.</a:t>
            </a:r>
            <a:endParaRPr lang="en-US" sz="900" dirty="0"/>
          </a:p>
        </p:txBody>
      </p:sp>
      <p:sp>
        <p:nvSpPr>
          <p:cNvPr id="19" name="Text 17"/>
          <p:cNvSpPr/>
          <p:nvPr/>
        </p:nvSpPr>
        <p:spPr>
          <a:xfrm>
            <a:off x="11277295" y="6473952"/>
            <a:ext cx="2743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640080" y="667512"/>
            <a:ext cx="164592" cy="164592"/>
          </a:xfrm>
          <a:prstGeom prst="rect">
            <a:avLst/>
          </a:prstGeom>
          <a:solidFill>
            <a:srgbClr val="B8945F"/>
          </a:solidFill>
          <a:ln/>
        </p:spPr>
      </p:sp>
      <p:sp>
        <p:nvSpPr>
          <p:cNvPr id="3" name="Text 1"/>
          <p:cNvSpPr/>
          <p:nvPr/>
        </p:nvSpPr>
        <p:spPr>
          <a:xfrm>
            <a:off x="987552" y="502920"/>
            <a:ext cx="10911535"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Georgia" pitchFamily="34" charset="0"/>
                <a:ea typeface="Georgia" pitchFamily="34" charset="-122"/>
                <a:cs typeface="Georgia" pitchFamily="34" charset="-120"/>
              </a:rPr>
              <a:t>The structural response</a:t>
            </a:r>
            <a:endParaRPr lang="en-US" sz="3000" dirty="0"/>
          </a:p>
        </p:txBody>
      </p:sp>
      <p:sp>
        <p:nvSpPr>
          <p:cNvPr id="4" name="Text 2"/>
          <p:cNvSpPr/>
          <p:nvPr/>
        </p:nvSpPr>
        <p:spPr>
          <a:xfrm>
            <a:off x="640080" y="1280160"/>
            <a:ext cx="10911535" cy="64008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One response to each failure class. Realized at a single boundary in the execution model. Governed by an authoritative artifact. Bound to the same act that produces authoritative state.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10911535" cy="914400"/>
        </p:xfrm>
        <a:graphic>
          <a:graphicData uri="http://schemas.openxmlformats.org/drawingml/2006/table">
            <a:tbl>
              <a:tblPr/>
              <a:tblGrid>
                <a:gridCol w="2743200"/>
                <a:gridCol w="4507992"/>
                <a:gridCol w="3657600"/>
              </a:tblGrid>
              <a:tr h="457200">
                <a:tc>
                  <a:txBody>
                    <a:bodyPr/>
                    <a:lstStyle/>
                    <a:p>
                      <a:pPr algn="l" indent="0" marL="0">
                        <a:buNone/>
                      </a:pPr>
                      <a:r>
                        <a:rPr lang="en-US" sz="1300" b="1" dirty="0">
                          <a:solidFill>
                            <a:srgbClr val="FAFBFC"/>
                          </a:solidFill>
                          <a:latin typeface="Georgia" pitchFamily="34" charset="0"/>
                          <a:ea typeface="Georgia" pitchFamily="34" charset="-122"/>
                          <a:cs typeface="Georgia" pitchFamily="34" charset="-120"/>
                        </a:rPr>
                        <a:t>Failure class</a:t>
                      </a:r>
                      <a:endParaRPr lang="en-US" sz="1300" dirty="0">
                        <a:latin typeface="Georgia" charset="0"/>
                        <a:ea typeface="Georgia" charset="0"/>
                        <a:cs typeface="Georgia" charset="0"/>
                      </a:endParaRPr>
                    </a:p>
                  </a:txBody>
                  <a:tcPr marL="109728" marR="109728" marT="109728" marB="109728" anchor="ctr">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AFBFC"/>
                          </a:solidFill>
                          <a:latin typeface="Georgia" pitchFamily="34" charset="0"/>
                          <a:ea typeface="Georgia" pitchFamily="34" charset="-122"/>
                          <a:cs typeface="Georgia" pitchFamily="34" charset="-120"/>
                        </a:rPr>
                        <a:t>Structural response</a:t>
                      </a:r>
                      <a:endParaRPr lang="en-US" sz="1300" dirty="0">
                        <a:latin typeface="Georgia" charset="0"/>
                        <a:ea typeface="Georgia" charset="0"/>
                        <a:cs typeface="Georgia" charset="0"/>
                      </a:endParaRPr>
                    </a:p>
                  </a:txBody>
                  <a:tcPr marL="109728" marR="109728" marT="109728" marB="109728" anchor="ctr">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0F172A"/>
                    </a:solidFill>
                  </a:tcPr>
                </a:tc>
                <a:tc>
                  <a:txBody>
                    <a:bodyPr/>
                    <a:lstStyle/>
                    <a:p>
                      <a:pPr algn="l" indent="0" marL="0">
                        <a:buNone/>
                      </a:pPr>
                      <a:r>
                        <a:rPr lang="en-US" sz="1300" b="1" dirty="0">
                          <a:solidFill>
                            <a:srgbClr val="FAFBFC"/>
                          </a:solidFill>
                          <a:latin typeface="Georgia" pitchFamily="34" charset="0"/>
                          <a:ea typeface="Georgia" pitchFamily="34" charset="-122"/>
                          <a:cs typeface="Georgia" pitchFamily="34" charset="-120"/>
                        </a:rPr>
                        <a:t>Operational effect</a:t>
                      </a:r>
                      <a:endParaRPr lang="en-US" sz="1300" dirty="0">
                        <a:latin typeface="Georgia" charset="0"/>
                        <a:ea typeface="Georgia" charset="0"/>
                        <a:cs typeface="Georgia" charset="0"/>
                      </a:endParaRPr>
                    </a:p>
                  </a:txBody>
                  <a:tcPr marL="109728" marR="109728" marT="109728" marB="109728" anchor="ctr">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0F172A"/>
                    </a:solidFill>
                  </a:tcPr>
                </a:tc>
              </a:tr>
              <a:tr h="9601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Meaning drift after observation</a:t>
                      </a:r>
                      <a:endParaRPr lang="en-US" sz="1200" dirty="0">
                        <a:latin typeface="Calibri" charset="0"/>
                        <a:ea typeface="Calibri" charset="0"/>
                        <a:cs typeface="Calibri" charset="0"/>
                      </a:endParaRPr>
                    </a:p>
                  </a:txBody>
                  <a:tcPr marL="109728" marR="109728" marT="109728" marB="109728" anchor="t">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Business meaning is produced once at the canonical evaluation boundary by applying a Canonical Contract to one or more Source Objects.</a:t>
                      </a:r>
                      <a:endParaRPr lang="en-US" sz="1200" dirty="0">
                        <a:latin typeface="Calibri" charset="0"/>
                        <a:ea typeface="Calibri" charset="0"/>
                        <a:cs typeface="Calibri" charset="0"/>
                      </a:endParaRPr>
                    </a:p>
                  </a:txBody>
                  <a:tcPr marL="109728" marR="109728" marT="109728" marB="109728" anchor="t">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Consumers read preserved semantic state. No component reinterprets meaning at read time.</a:t>
                      </a:r>
                      <a:endParaRPr lang="en-US" sz="1200" dirty="0">
                        <a:latin typeface="Calibri" charset="0"/>
                        <a:ea typeface="Calibri" charset="0"/>
                        <a:cs typeface="Calibri" charset="0"/>
                      </a:endParaRPr>
                    </a:p>
                  </a:txBody>
                  <a:tcPr marL="109728" marR="109728" marT="109728" marB="109728" anchor="t">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FFFFFF"/>
                    </a:solidFill>
                  </a:tcPr>
                </a:tc>
              </a:tr>
              <a:tr h="9601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Reconstruction-based audit</a:t>
                      </a:r>
                      <a:endParaRPr lang="en-US" sz="1200" dirty="0">
                        <a:latin typeface="Calibri" charset="0"/>
                        <a:ea typeface="Calibri" charset="0"/>
                        <a:cs typeface="Calibri" charset="0"/>
                      </a:endParaRPr>
                    </a:p>
                  </a:txBody>
                  <a:tcPr marL="109728" marR="109728" marT="109728" marB="109728" anchor="t">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F2F4F8"/>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Evidence and Lineage are emitted at the same act that produces authoritative state. Both are immutable and append-only.</a:t>
                      </a:r>
                      <a:endParaRPr lang="en-US" sz="1200" dirty="0">
                        <a:latin typeface="Calibri" charset="0"/>
                        <a:ea typeface="Calibri" charset="0"/>
                        <a:cs typeface="Calibri" charset="0"/>
                      </a:endParaRPr>
                    </a:p>
                  </a:txBody>
                  <a:tcPr marL="109728" marR="109728" marT="109728" marB="109728" anchor="t">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F2F4F8"/>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Audit reads preserved proof. The platform does not assemble historical answers from logs and replays.</a:t>
                      </a:r>
                      <a:endParaRPr lang="en-US" sz="1200" dirty="0">
                        <a:latin typeface="Calibri" charset="0"/>
                        <a:ea typeface="Calibri" charset="0"/>
                        <a:cs typeface="Calibri" charset="0"/>
                      </a:endParaRPr>
                    </a:p>
                  </a:txBody>
                  <a:tcPr marL="109728" marR="109728" marT="109728" marB="109728" anchor="t">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F2F4F8"/>
                    </a:solidFill>
                  </a:tcPr>
                </a:tc>
              </a:tr>
              <a:tr h="960120">
                <a:tc>
                  <a:txBody>
                    <a:bodyPr/>
                    <a:lstStyle/>
                    <a:p>
                      <a:pPr algn="l" indent="0" marL="0">
                        <a:buNone/>
                      </a:pPr>
                      <a:r>
                        <a:rPr lang="en-US" sz="1200" b="1" dirty="0">
                          <a:solidFill>
                            <a:srgbClr val="0F172A"/>
                          </a:solidFill>
                          <a:latin typeface="Calibri" pitchFamily="34" charset="0"/>
                          <a:ea typeface="Calibri" pitchFamily="34" charset="-122"/>
                          <a:cs typeface="Calibri" pitchFamily="34" charset="-120"/>
                        </a:rPr>
                        <a:t>Implicit reference</a:t>
                      </a:r>
                      <a:endParaRPr lang="en-US" sz="1200" dirty="0">
                        <a:latin typeface="Calibri" charset="0"/>
                        <a:ea typeface="Calibri" charset="0"/>
                        <a:cs typeface="Calibri" charset="0"/>
                      </a:endParaRPr>
                    </a:p>
                  </a:txBody>
                  <a:tcPr marL="109728" marR="109728" marT="109728" marB="109728" anchor="t">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Every reference identifies the object's type, identity, and version. Resolutions such as latest or current are not admitted.</a:t>
                      </a:r>
                      <a:endParaRPr lang="en-US" sz="1200" dirty="0">
                        <a:latin typeface="Calibri" charset="0"/>
                        <a:ea typeface="Calibri" charset="0"/>
                        <a:cs typeface="Calibri" charset="0"/>
                      </a:endParaRPr>
                    </a:p>
                  </a:txBody>
                  <a:tcPr marL="109728" marR="109728" marT="109728" marB="109728" anchor="t">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0F172A"/>
                          </a:solidFill>
                          <a:latin typeface="Calibri" pitchFamily="34" charset="0"/>
                          <a:ea typeface="Calibri" pitchFamily="34" charset="-122"/>
                          <a:cs typeface="Calibri" pitchFamily="34" charset="-120"/>
                        </a:rPr>
                        <a:t>Two consumers issuing nominally identical requests receive the same value. Decisions are traceable to specific historical state.</a:t>
                      </a:r>
                      <a:endParaRPr lang="en-US" sz="1200" dirty="0">
                        <a:latin typeface="Calibri" charset="0"/>
                        <a:ea typeface="Calibri" charset="0"/>
                        <a:cs typeface="Calibri" charset="0"/>
                      </a:endParaRPr>
                    </a:p>
                  </a:txBody>
                  <a:tcPr marL="109728" marR="109728" marT="109728" marB="109728" anchor="t">
                    <a:lnL w="6350" cap="flat" cmpd="sng" algn="ctr">
                      <a:solidFill>
                        <a:srgbClr val="CFD6E1"/>
                      </a:solidFill>
                      <a:prstDash val="solid"/>
                      <a:round/>
                      <a:headEnd type="none" w="med" len="med"/>
                      <a:tailEnd type="none" w="med" len="med"/>
                    </a:lnL>
                    <a:lnR w="6350" cap="flat" cmpd="sng" algn="ctr">
                      <a:solidFill>
                        <a:srgbClr val="CFD6E1"/>
                      </a:solidFill>
                      <a:prstDash val="solid"/>
                      <a:round/>
                      <a:headEnd type="none" w="med" len="med"/>
                      <a:tailEnd type="none" w="med" len="med"/>
                    </a:lnR>
                    <a:lnT w="6350" cap="flat" cmpd="sng" algn="ctr">
                      <a:solidFill>
                        <a:srgbClr val="CFD6E1"/>
                      </a:solidFill>
                      <a:prstDash val="solid"/>
                      <a:round/>
                      <a:headEnd type="none" w="med" len="med"/>
                      <a:tailEnd type="none" w="med" len="med"/>
                    </a:lnT>
                    <a:lnB w="6350" cap="flat" cmpd="sng" algn="ctr">
                      <a:solidFill>
                        <a:srgbClr val="CFD6E1"/>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473952"/>
            <a:ext cx="73152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BareCount  ·  conceptual reference  ·  bc-docs-v3</a:t>
            </a:r>
            <a:endParaRPr lang="en-US" sz="900" dirty="0"/>
          </a:p>
        </p:txBody>
      </p:sp>
      <p:sp>
        <p:nvSpPr>
          <p:cNvPr id="7" name="Text 4"/>
          <p:cNvSpPr/>
          <p:nvPr/>
        </p:nvSpPr>
        <p:spPr>
          <a:xfrm>
            <a:off x="640080" y="6291072"/>
            <a:ext cx="10911535" cy="201168"/>
          </a:xfrm>
          <a:prstGeom prst="rect">
            <a:avLst/>
          </a:prstGeom>
          <a:noFill/>
          <a:ln/>
        </p:spPr>
        <p:txBody>
          <a:bodyPr wrap="square" lIns="0" tIns="0" rIns="0" bIns="0" rtlCol="0" anchor="ctr"/>
          <a:lstStyle/>
          <a:p>
            <a:pPr algn="l" indent="0" marL="0">
              <a:buNone/>
            </a:pPr>
            <a:r>
              <a:rPr lang="en-US" sz="900" i="1" dirty="0">
                <a:solidFill>
                  <a:srgbClr val="8E6F3F"/>
                </a:solidFill>
                <a:latin typeface="Calibri" pitchFamily="34" charset="0"/>
                <a:ea typeface="Calibri" pitchFamily="34" charset="-122"/>
                <a:cs typeface="Calibri" pitchFamily="34" charset="-120"/>
              </a:rPr>
              <a:t>Foundation. The Solution.</a:t>
            </a:r>
            <a:endParaRPr lang="en-US" sz="900" dirty="0"/>
          </a:p>
        </p:txBody>
      </p:sp>
      <p:sp>
        <p:nvSpPr>
          <p:cNvPr id="8" name="Text 5"/>
          <p:cNvSpPr/>
          <p:nvPr/>
        </p:nvSpPr>
        <p:spPr>
          <a:xfrm>
            <a:off x="11277295" y="6473952"/>
            <a:ext cx="2743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640080" y="667512"/>
            <a:ext cx="164592" cy="164592"/>
          </a:xfrm>
          <a:prstGeom prst="rect">
            <a:avLst/>
          </a:prstGeom>
          <a:solidFill>
            <a:srgbClr val="B8945F"/>
          </a:solidFill>
          <a:ln/>
        </p:spPr>
      </p:sp>
      <p:sp>
        <p:nvSpPr>
          <p:cNvPr id="3" name="Text 1"/>
          <p:cNvSpPr/>
          <p:nvPr/>
        </p:nvSpPr>
        <p:spPr>
          <a:xfrm>
            <a:off x="987552" y="502920"/>
            <a:ext cx="10911535"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Georgia" pitchFamily="34" charset="0"/>
                <a:ea typeface="Georgia" pitchFamily="34" charset="-122"/>
                <a:cs typeface="Georgia" pitchFamily="34" charset="-120"/>
              </a:rPr>
              <a:t>Four governed evaluation boundaries</a:t>
            </a:r>
            <a:endParaRPr lang="en-US" sz="3000" dirty="0"/>
          </a:p>
        </p:txBody>
      </p:sp>
      <p:sp>
        <p:nvSpPr>
          <p:cNvPr id="4" name="Text 2"/>
          <p:cNvSpPr/>
          <p:nvPr/>
        </p:nvSpPr>
        <p:spPr>
          <a:xfrm>
            <a:off x="640080" y="1280160"/>
            <a:ext cx="10911535" cy="50292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Authoritative state is produced only at these boundaries. Read access produces nothing. Evidence and Lineage are emitted at each act.</a:t>
            </a:r>
            <a:endParaRPr lang="en-US" sz="1300" dirty="0"/>
          </a:p>
        </p:txBody>
      </p:sp>
      <p:sp>
        <p:nvSpPr>
          <p:cNvPr id="5" name="Shape 3"/>
          <p:cNvSpPr/>
          <p:nvPr/>
        </p:nvSpPr>
        <p:spPr>
          <a:xfrm>
            <a:off x="403708" y="2194560"/>
            <a:ext cx="2606040" cy="2834640"/>
          </a:xfrm>
          <a:prstGeom prst="rect">
            <a:avLst/>
          </a:prstGeom>
          <a:solidFill>
            <a:srgbClr val="FFFFFF"/>
          </a:solidFill>
          <a:ln w="9525">
            <a:solidFill>
              <a:srgbClr val="CFD6E1"/>
            </a:solidFill>
            <a:prstDash val="solid"/>
          </a:ln>
        </p:spPr>
      </p:sp>
      <p:sp>
        <p:nvSpPr>
          <p:cNvPr id="6" name="Shape 4"/>
          <p:cNvSpPr/>
          <p:nvPr/>
        </p:nvSpPr>
        <p:spPr>
          <a:xfrm>
            <a:off x="403708" y="2194560"/>
            <a:ext cx="2606040" cy="91440"/>
          </a:xfrm>
          <a:prstGeom prst="rect">
            <a:avLst/>
          </a:prstGeom>
          <a:solidFill>
            <a:srgbClr val="B8945F"/>
          </a:solidFill>
          <a:ln/>
        </p:spPr>
      </p:sp>
      <p:sp>
        <p:nvSpPr>
          <p:cNvPr id="7" name="Text 5"/>
          <p:cNvSpPr/>
          <p:nvPr/>
        </p:nvSpPr>
        <p:spPr>
          <a:xfrm>
            <a:off x="632308" y="2423160"/>
            <a:ext cx="914400" cy="457200"/>
          </a:xfrm>
          <a:prstGeom prst="rect">
            <a:avLst/>
          </a:prstGeom>
          <a:noFill/>
          <a:ln/>
        </p:spPr>
        <p:txBody>
          <a:bodyPr wrap="square" lIns="0" tIns="0" rIns="0" bIns="0" rtlCol="0" anchor="ctr"/>
          <a:lstStyle/>
          <a:p>
            <a:pPr indent="0" marL="0">
              <a:buNone/>
            </a:pPr>
            <a:r>
              <a:rPr lang="en-US" sz="2200" b="1" dirty="0">
                <a:solidFill>
                  <a:srgbClr val="B8945F"/>
                </a:solidFill>
                <a:latin typeface="Georgia" pitchFamily="34" charset="0"/>
                <a:ea typeface="Georgia" pitchFamily="34" charset="-122"/>
                <a:cs typeface="Georgia" pitchFamily="34" charset="-120"/>
              </a:rPr>
              <a:t>01</a:t>
            </a:r>
            <a:endParaRPr lang="en-US" sz="2200" dirty="0"/>
          </a:p>
        </p:txBody>
      </p:sp>
      <p:sp>
        <p:nvSpPr>
          <p:cNvPr id="8" name="Text 6"/>
          <p:cNvSpPr/>
          <p:nvPr/>
        </p:nvSpPr>
        <p:spPr>
          <a:xfrm>
            <a:off x="632308" y="2971800"/>
            <a:ext cx="2148840" cy="73152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Admission</a:t>
            </a:r>
            <a:endParaRPr lang="en-US" sz="1600" dirty="0"/>
          </a:p>
        </p:txBody>
      </p:sp>
      <p:sp>
        <p:nvSpPr>
          <p:cNvPr id="9" name="Text 7"/>
          <p:cNvSpPr/>
          <p:nvPr/>
        </p:nvSpPr>
        <p:spPr>
          <a:xfrm>
            <a:off x="632308" y="3611880"/>
            <a:ext cx="2148840" cy="228600"/>
          </a:xfrm>
          <a:prstGeom prst="rect">
            <a:avLst/>
          </a:prstGeom>
          <a:noFill/>
          <a:ln/>
        </p:spPr>
        <p:txBody>
          <a:bodyPr wrap="square" lIns="0" tIns="0" rIns="0" bIns="0" rtlCol="0" anchor="ctr"/>
          <a:lstStyle/>
          <a:p>
            <a:pPr indent="0" marL="0">
              <a:buNone/>
            </a:pPr>
            <a:r>
              <a:rPr lang="en-US" sz="900" i="1" spc="200" kern="0" dirty="0">
                <a:solidFill>
                  <a:srgbClr val="5B6478"/>
                </a:solidFill>
                <a:latin typeface="Calibri" pitchFamily="34" charset="0"/>
                <a:ea typeface="Calibri" pitchFamily="34" charset="-122"/>
                <a:cs typeface="Calibri" pitchFamily="34" charset="-120"/>
              </a:rPr>
              <a:t>produces</a:t>
            </a:r>
            <a:endParaRPr lang="en-US" sz="900" dirty="0"/>
          </a:p>
        </p:txBody>
      </p:sp>
      <p:sp>
        <p:nvSpPr>
          <p:cNvPr id="10" name="Text 8"/>
          <p:cNvSpPr/>
          <p:nvPr/>
        </p:nvSpPr>
        <p:spPr>
          <a:xfrm>
            <a:off x="632308" y="3822192"/>
            <a:ext cx="2148840" cy="320040"/>
          </a:xfrm>
          <a:prstGeom prst="rect">
            <a:avLst/>
          </a:prstGeom>
          <a:noFill/>
          <a:ln/>
        </p:spPr>
        <p:txBody>
          <a:bodyPr wrap="square" lIns="0" tIns="0" rIns="0" bIns="0" rtlCol="0" anchor="ctr"/>
          <a:lstStyle/>
          <a:p>
            <a:pPr indent="0" marL="0">
              <a:buNone/>
            </a:pPr>
            <a:r>
              <a:rPr lang="en-US" sz="1300" b="1" dirty="0">
                <a:solidFill>
                  <a:srgbClr val="8E6F3F"/>
                </a:solidFill>
                <a:latin typeface="Consolas" pitchFamily="34" charset="0"/>
                <a:ea typeface="Consolas" pitchFamily="34" charset="-122"/>
                <a:cs typeface="Consolas" pitchFamily="34" charset="-120"/>
              </a:rPr>
              <a:t>Source Object</a:t>
            </a:r>
            <a:endParaRPr lang="en-US" sz="1300" dirty="0"/>
          </a:p>
        </p:txBody>
      </p:sp>
      <p:sp>
        <p:nvSpPr>
          <p:cNvPr id="11" name="Text 9"/>
          <p:cNvSpPr/>
          <p:nvPr/>
        </p:nvSpPr>
        <p:spPr>
          <a:xfrm>
            <a:off x="632308" y="4206240"/>
            <a:ext cx="2148840" cy="68580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External state admitted under a Source and Admission Contract.</a:t>
            </a:r>
            <a:endParaRPr lang="en-US" sz="1100" dirty="0"/>
          </a:p>
        </p:txBody>
      </p:sp>
      <p:sp>
        <p:nvSpPr>
          <p:cNvPr id="12" name="Text 10"/>
          <p:cNvSpPr/>
          <p:nvPr/>
        </p:nvSpPr>
        <p:spPr>
          <a:xfrm>
            <a:off x="3046324" y="3383280"/>
            <a:ext cx="246888" cy="457200"/>
          </a:xfrm>
          <a:prstGeom prst="rect">
            <a:avLst/>
          </a:prstGeom>
          <a:noFill/>
          <a:ln/>
        </p:spPr>
        <p:txBody>
          <a:bodyPr wrap="square" lIns="0" tIns="0" rIns="0" bIns="0" rtlCol="0" anchor="ctr"/>
          <a:lstStyle/>
          <a:p>
            <a:pPr algn="ctr" indent="0" marL="0">
              <a:buNone/>
            </a:pPr>
            <a:r>
              <a:rPr lang="en-US" sz="2400" b="1" dirty="0">
                <a:solidFill>
                  <a:srgbClr val="B8945F"/>
                </a:solidFill>
                <a:latin typeface="Georgia" pitchFamily="34" charset="0"/>
                <a:ea typeface="Georgia" pitchFamily="34" charset="-122"/>
                <a:cs typeface="Georgia" pitchFamily="34" charset="-120"/>
              </a:rPr>
              <a:t>→</a:t>
            </a:r>
            <a:endParaRPr lang="en-US" sz="2400" dirty="0"/>
          </a:p>
        </p:txBody>
      </p:sp>
      <p:sp>
        <p:nvSpPr>
          <p:cNvPr id="13" name="Shape 11"/>
          <p:cNvSpPr/>
          <p:nvPr/>
        </p:nvSpPr>
        <p:spPr>
          <a:xfrm>
            <a:off x="3329788" y="2194560"/>
            <a:ext cx="2606040" cy="2834640"/>
          </a:xfrm>
          <a:prstGeom prst="rect">
            <a:avLst/>
          </a:prstGeom>
          <a:solidFill>
            <a:srgbClr val="FFFFFF"/>
          </a:solidFill>
          <a:ln w="9525">
            <a:solidFill>
              <a:srgbClr val="CFD6E1"/>
            </a:solidFill>
            <a:prstDash val="solid"/>
          </a:ln>
        </p:spPr>
      </p:sp>
      <p:sp>
        <p:nvSpPr>
          <p:cNvPr id="14" name="Shape 12"/>
          <p:cNvSpPr/>
          <p:nvPr/>
        </p:nvSpPr>
        <p:spPr>
          <a:xfrm>
            <a:off x="3329788" y="2194560"/>
            <a:ext cx="2606040" cy="91440"/>
          </a:xfrm>
          <a:prstGeom prst="rect">
            <a:avLst/>
          </a:prstGeom>
          <a:solidFill>
            <a:srgbClr val="B8945F"/>
          </a:solidFill>
          <a:ln/>
        </p:spPr>
      </p:sp>
      <p:sp>
        <p:nvSpPr>
          <p:cNvPr id="15" name="Text 13"/>
          <p:cNvSpPr/>
          <p:nvPr/>
        </p:nvSpPr>
        <p:spPr>
          <a:xfrm>
            <a:off x="3558388" y="2423160"/>
            <a:ext cx="914400" cy="457200"/>
          </a:xfrm>
          <a:prstGeom prst="rect">
            <a:avLst/>
          </a:prstGeom>
          <a:noFill/>
          <a:ln/>
        </p:spPr>
        <p:txBody>
          <a:bodyPr wrap="square" lIns="0" tIns="0" rIns="0" bIns="0" rtlCol="0" anchor="ctr"/>
          <a:lstStyle/>
          <a:p>
            <a:pPr indent="0" marL="0">
              <a:buNone/>
            </a:pPr>
            <a:r>
              <a:rPr lang="en-US" sz="2200" b="1" dirty="0">
                <a:solidFill>
                  <a:srgbClr val="B8945F"/>
                </a:solidFill>
                <a:latin typeface="Georgia" pitchFamily="34" charset="0"/>
                <a:ea typeface="Georgia" pitchFamily="34" charset="-122"/>
                <a:cs typeface="Georgia" pitchFamily="34" charset="-120"/>
              </a:rPr>
              <a:t>02</a:t>
            </a:r>
            <a:endParaRPr lang="en-US" sz="2200" dirty="0"/>
          </a:p>
        </p:txBody>
      </p:sp>
      <p:sp>
        <p:nvSpPr>
          <p:cNvPr id="16" name="Text 14"/>
          <p:cNvSpPr/>
          <p:nvPr/>
        </p:nvSpPr>
        <p:spPr>
          <a:xfrm>
            <a:off x="3558388" y="2971800"/>
            <a:ext cx="2148840" cy="73152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Canonical evaluation</a:t>
            </a:r>
            <a:endParaRPr lang="en-US" sz="1600" dirty="0"/>
          </a:p>
        </p:txBody>
      </p:sp>
      <p:sp>
        <p:nvSpPr>
          <p:cNvPr id="17" name="Text 15"/>
          <p:cNvSpPr/>
          <p:nvPr/>
        </p:nvSpPr>
        <p:spPr>
          <a:xfrm>
            <a:off x="3558388" y="3611880"/>
            <a:ext cx="2148840" cy="228600"/>
          </a:xfrm>
          <a:prstGeom prst="rect">
            <a:avLst/>
          </a:prstGeom>
          <a:noFill/>
          <a:ln/>
        </p:spPr>
        <p:txBody>
          <a:bodyPr wrap="square" lIns="0" tIns="0" rIns="0" bIns="0" rtlCol="0" anchor="ctr"/>
          <a:lstStyle/>
          <a:p>
            <a:pPr indent="0" marL="0">
              <a:buNone/>
            </a:pPr>
            <a:r>
              <a:rPr lang="en-US" sz="900" i="1" spc="200" kern="0" dirty="0">
                <a:solidFill>
                  <a:srgbClr val="5B6478"/>
                </a:solidFill>
                <a:latin typeface="Calibri" pitchFamily="34" charset="0"/>
                <a:ea typeface="Calibri" pitchFamily="34" charset="-122"/>
                <a:cs typeface="Calibri" pitchFamily="34" charset="-120"/>
              </a:rPr>
              <a:t>produces</a:t>
            </a:r>
            <a:endParaRPr lang="en-US" sz="900" dirty="0"/>
          </a:p>
        </p:txBody>
      </p:sp>
      <p:sp>
        <p:nvSpPr>
          <p:cNvPr id="18" name="Text 16"/>
          <p:cNvSpPr/>
          <p:nvPr/>
        </p:nvSpPr>
        <p:spPr>
          <a:xfrm>
            <a:off x="3558388" y="3822192"/>
            <a:ext cx="2148840" cy="320040"/>
          </a:xfrm>
          <a:prstGeom prst="rect">
            <a:avLst/>
          </a:prstGeom>
          <a:noFill/>
          <a:ln/>
        </p:spPr>
        <p:txBody>
          <a:bodyPr wrap="square" lIns="0" tIns="0" rIns="0" bIns="0" rtlCol="0" anchor="ctr"/>
          <a:lstStyle/>
          <a:p>
            <a:pPr indent="0" marL="0">
              <a:buNone/>
            </a:pPr>
            <a:r>
              <a:rPr lang="en-US" sz="1300" b="1" dirty="0">
                <a:solidFill>
                  <a:srgbClr val="8E6F3F"/>
                </a:solidFill>
                <a:latin typeface="Consolas" pitchFamily="34" charset="0"/>
                <a:ea typeface="Consolas" pitchFamily="34" charset="-122"/>
                <a:cs typeface="Consolas" pitchFamily="34" charset="-120"/>
              </a:rPr>
              <a:t>Canonical Object</a:t>
            </a:r>
            <a:endParaRPr lang="en-US" sz="1300" dirty="0"/>
          </a:p>
        </p:txBody>
      </p:sp>
      <p:sp>
        <p:nvSpPr>
          <p:cNvPr id="19" name="Text 17"/>
          <p:cNvSpPr/>
          <p:nvPr/>
        </p:nvSpPr>
        <p:spPr>
          <a:xfrm>
            <a:off x="3558388" y="4206240"/>
            <a:ext cx="2148840" cy="68580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Business meaning produced once per version under a Canonical Contract.</a:t>
            </a:r>
            <a:endParaRPr lang="en-US" sz="1100" dirty="0"/>
          </a:p>
        </p:txBody>
      </p:sp>
      <p:sp>
        <p:nvSpPr>
          <p:cNvPr id="20" name="Text 18"/>
          <p:cNvSpPr/>
          <p:nvPr/>
        </p:nvSpPr>
        <p:spPr>
          <a:xfrm>
            <a:off x="5972404" y="3383280"/>
            <a:ext cx="246888" cy="457200"/>
          </a:xfrm>
          <a:prstGeom prst="rect">
            <a:avLst/>
          </a:prstGeom>
          <a:noFill/>
          <a:ln/>
        </p:spPr>
        <p:txBody>
          <a:bodyPr wrap="square" lIns="0" tIns="0" rIns="0" bIns="0" rtlCol="0" anchor="ctr"/>
          <a:lstStyle/>
          <a:p>
            <a:pPr algn="ctr" indent="0" marL="0">
              <a:buNone/>
            </a:pPr>
            <a:r>
              <a:rPr lang="en-US" sz="2400" b="1" dirty="0">
                <a:solidFill>
                  <a:srgbClr val="B8945F"/>
                </a:solidFill>
                <a:latin typeface="Georgia" pitchFamily="34" charset="0"/>
                <a:ea typeface="Georgia" pitchFamily="34" charset="-122"/>
                <a:cs typeface="Georgia" pitchFamily="34" charset="-120"/>
              </a:rPr>
              <a:t>→</a:t>
            </a:r>
            <a:endParaRPr lang="en-US" sz="2400" dirty="0"/>
          </a:p>
        </p:txBody>
      </p:sp>
      <p:sp>
        <p:nvSpPr>
          <p:cNvPr id="21" name="Shape 19"/>
          <p:cNvSpPr/>
          <p:nvPr/>
        </p:nvSpPr>
        <p:spPr>
          <a:xfrm>
            <a:off x="6255868" y="2194560"/>
            <a:ext cx="2606040" cy="2834640"/>
          </a:xfrm>
          <a:prstGeom prst="rect">
            <a:avLst/>
          </a:prstGeom>
          <a:solidFill>
            <a:srgbClr val="FFFFFF"/>
          </a:solidFill>
          <a:ln w="9525">
            <a:solidFill>
              <a:srgbClr val="CFD6E1"/>
            </a:solidFill>
            <a:prstDash val="solid"/>
          </a:ln>
        </p:spPr>
      </p:sp>
      <p:sp>
        <p:nvSpPr>
          <p:cNvPr id="22" name="Shape 20"/>
          <p:cNvSpPr/>
          <p:nvPr/>
        </p:nvSpPr>
        <p:spPr>
          <a:xfrm>
            <a:off x="6255868" y="2194560"/>
            <a:ext cx="2606040" cy="91440"/>
          </a:xfrm>
          <a:prstGeom prst="rect">
            <a:avLst/>
          </a:prstGeom>
          <a:solidFill>
            <a:srgbClr val="B8945F"/>
          </a:solidFill>
          <a:ln/>
        </p:spPr>
      </p:sp>
      <p:sp>
        <p:nvSpPr>
          <p:cNvPr id="23" name="Text 21"/>
          <p:cNvSpPr/>
          <p:nvPr/>
        </p:nvSpPr>
        <p:spPr>
          <a:xfrm>
            <a:off x="6484468" y="2423160"/>
            <a:ext cx="914400" cy="457200"/>
          </a:xfrm>
          <a:prstGeom prst="rect">
            <a:avLst/>
          </a:prstGeom>
          <a:noFill/>
          <a:ln/>
        </p:spPr>
        <p:txBody>
          <a:bodyPr wrap="square" lIns="0" tIns="0" rIns="0" bIns="0" rtlCol="0" anchor="ctr"/>
          <a:lstStyle/>
          <a:p>
            <a:pPr indent="0" marL="0">
              <a:buNone/>
            </a:pPr>
            <a:r>
              <a:rPr lang="en-US" sz="2200" b="1" dirty="0">
                <a:solidFill>
                  <a:srgbClr val="B8945F"/>
                </a:solidFill>
                <a:latin typeface="Georgia" pitchFamily="34" charset="0"/>
                <a:ea typeface="Georgia" pitchFamily="34" charset="-122"/>
                <a:cs typeface="Georgia" pitchFamily="34" charset="-120"/>
              </a:rPr>
              <a:t>03</a:t>
            </a:r>
            <a:endParaRPr lang="en-US" sz="2200" dirty="0"/>
          </a:p>
        </p:txBody>
      </p:sp>
      <p:sp>
        <p:nvSpPr>
          <p:cNvPr id="24" name="Text 22"/>
          <p:cNvSpPr/>
          <p:nvPr/>
        </p:nvSpPr>
        <p:spPr>
          <a:xfrm>
            <a:off x="6484468" y="2971800"/>
            <a:ext cx="2148840" cy="73152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Metric evaluation</a:t>
            </a:r>
            <a:endParaRPr lang="en-US" sz="1600" dirty="0"/>
          </a:p>
        </p:txBody>
      </p:sp>
      <p:sp>
        <p:nvSpPr>
          <p:cNvPr id="25" name="Text 23"/>
          <p:cNvSpPr/>
          <p:nvPr/>
        </p:nvSpPr>
        <p:spPr>
          <a:xfrm>
            <a:off x="6484468" y="3611880"/>
            <a:ext cx="2148840" cy="228600"/>
          </a:xfrm>
          <a:prstGeom prst="rect">
            <a:avLst/>
          </a:prstGeom>
          <a:noFill/>
          <a:ln/>
        </p:spPr>
        <p:txBody>
          <a:bodyPr wrap="square" lIns="0" tIns="0" rIns="0" bIns="0" rtlCol="0" anchor="ctr"/>
          <a:lstStyle/>
          <a:p>
            <a:pPr indent="0" marL="0">
              <a:buNone/>
            </a:pPr>
            <a:r>
              <a:rPr lang="en-US" sz="900" i="1" spc="200" kern="0" dirty="0">
                <a:solidFill>
                  <a:srgbClr val="5B6478"/>
                </a:solidFill>
                <a:latin typeface="Calibri" pitchFamily="34" charset="0"/>
                <a:ea typeface="Calibri" pitchFamily="34" charset="-122"/>
                <a:cs typeface="Calibri" pitchFamily="34" charset="-120"/>
              </a:rPr>
              <a:t>produces</a:t>
            </a:r>
            <a:endParaRPr lang="en-US" sz="900" dirty="0"/>
          </a:p>
        </p:txBody>
      </p:sp>
      <p:sp>
        <p:nvSpPr>
          <p:cNvPr id="26" name="Text 24"/>
          <p:cNvSpPr/>
          <p:nvPr/>
        </p:nvSpPr>
        <p:spPr>
          <a:xfrm>
            <a:off x="6484468" y="3822192"/>
            <a:ext cx="2148840" cy="320040"/>
          </a:xfrm>
          <a:prstGeom prst="rect">
            <a:avLst/>
          </a:prstGeom>
          <a:noFill/>
          <a:ln/>
        </p:spPr>
        <p:txBody>
          <a:bodyPr wrap="square" lIns="0" tIns="0" rIns="0" bIns="0" rtlCol="0" anchor="ctr"/>
          <a:lstStyle/>
          <a:p>
            <a:pPr indent="0" marL="0">
              <a:buNone/>
            </a:pPr>
            <a:r>
              <a:rPr lang="en-US" sz="1300" b="1" dirty="0">
                <a:solidFill>
                  <a:srgbClr val="8E6F3F"/>
                </a:solidFill>
                <a:latin typeface="Consolas" pitchFamily="34" charset="0"/>
                <a:ea typeface="Consolas" pitchFamily="34" charset="-122"/>
                <a:cs typeface="Consolas" pitchFamily="34" charset="-120"/>
              </a:rPr>
              <a:t>Metric Snapshot</a:t>
            </a:r>
            <a:endParaRPr lang="en-US" sz="1300" dirty="0"/>
          </a:p>
        </p:txBody>
      </p:sp>
      <p:sp>
        <p:nvSpPr>
          <p:cNvPr id="27" name="Text 25"/>
          <p:cNvSpPr/>
          <p:nvPr/>
        </p:nvSpPr>
        <p:spPr>
          <a:xfrm>
            <a:off x="6484468" y="4206240"/>
            <a:ext cx="2148840" cy="68580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Metrics computed under a Metric Contract over one or more Canonical Objects.</a:t>
            </a:r>
            <a:endParaRPr lang="en-US" sz="1100" dirty="0"/>
          </a:p>
        </p:txBody>
      </p:sp>
      <p:sp>
        <p:nvSpPr>
          <p:cNvPr id="28" name="Text 26"/>
          <p:cNvSpPr/>
          <p:nvPr/>
        </p:nvSpPr>
        <p:spPr>
          <a:xfrm>
            <a:off x="8898484" y="3383280"/>
            <a:ext cx="246888" cy="457200"/>
          </a:xfrm>
          <a:prstGeom prst="rect">
            <a:avLst/>
          </a:prstGeom>
          <a:noFill/>
          <a:ln/>
        </p:spPr>
        <p:txBody>
          <a:bodyPr wrap="square" lIns="0" tIns="0" rIns="0" bIns="0" rtlCol="0" anchor="ctr"/>
          <a:lstStyle/>
          <a:p>
            <a:pPr algn="ctr" indent="0" marL="0">
              <a:buNone/>
            </a:pPr>
            <a:r>
              <a:rPr lang="en-US" sz="2400" b="1" dirty="0">
                <a:solidFill>
                  <a:srgbClr val="B8945F"/>
                </a:solidFill>
                <a:latin typeface="Georgia" pitchFamily="34" charset="0"/>
                <a:ea typeface="Georgia" pitchFamily="34" charset="-122"/>
                <a:cs typeface="Georgia" pitchFamily="34" charset="-120"/>
              </a:rPr>
              <a:t>→</a:t>
            </a:r>
            <a:endParaRPr lang="en-US" sz="2400" dirty="0"/>
          </a:p>
        </p:txBody>
      </p:sp>
      <p:sp>
        <p:nvSpPr>
          <p:cNvPr id="29" name="Shape 27"/>
          <p:cNvSpPr/>
          <p:nvPr/>
        </p:nvSpPr>
        <p:spPr>
          <a:xfrm>
            <a:off x="9181948" y="2194560"/>
            <a:ext cx="2606040" cy="2834640"/>
          </a:xfrm>
          <a:prstGeom prst="rect">
            <a:avLst/>
          </a:prstGeom>
          <a:solidFill>
            <a:srgbClr val="FFFFFF"/>
          </a:solidFill>
          <a:ln w="9525">
            <a:solidFill>
              <a:srgbClr val="CFD6E1"/>
            </a:solidFill>
            <a:prstDash val="solid"/>
          </a:ln>
        </p:spPr>
      </p:sp>
      <p:sp>
        <p:nvSpPr>
          <p:cNvPr id="30" name="Shape 28"/>
          <p:cNvSpPr/>
          <p:nvPr/>
        </p:nvSpPr>
        <p:spPr>
          <a:xfrm>
            <a:off x="9181948" y="2194560"/>
            <a:ext cx="2606040" cy="91440"/>
          </a:xfrm>
          <a:prstGeom prst="rect">
            <a:avLst/>
          </a:prstGeom>
          <a:solidFill>
            <a:srgbClr val="B8945F"/>
          </a:solidFill>
          <a:ln/>
        </p:spPr>
      </p:sp>
      <p:sp>
        <p:nvSpPr>
          <p:cNvPr id="31" name="Text 29"/>
          <p:cNvSpPr/>
          <p:nvPr/>
        </p:nvSpPr>
        <p:spPr>
          <a:xfrm>
            <a:off x="9410548" y="2423160"/>
            <a:ext cx="914400" cy="457200"/>
          </a:xfrm>
          <a:prstGeom prst="rect">
            <a:avLst/>
          </a:prstGeom>
          <a:noFill/>
          <a:ln/>
        </p:spPr>
        <p:txBody>
          <a:bodyPr wrap="square" lIns="0" tIns="0" rIns="0" bIns="0" rtlCol="0" anchor="ctr"/>
          <a:lstStyle/>
          <a:p>
            <a:pPr indent="0" marL="0">
              <a:buNone/>
            </a:pPr>
            <a:r>
              <a:rPr lang="en-US" sz="2200" b="1" dirty="0">
                <a:solidFill>
                  <a:srgbClr val="B8945F"/>
                </a:solidFill>
                <a:latin typeface="Georgia" pitchFamily="34" charset="0"/>
                <a:ea typeface="Georgia" pitchFamily="34" charset="-122"/>
                <a:cs typeface="Georgia" pitchFamily="34" charset="-120"/>
              </a:rPr>
              <a:t>04</a:t>
            </a:r>
            <a:endParaRPr lang="en-US" sz="2200" dirty="0"/>
          </a:p>
        </p:txBody>
      </p:sp>
      <p:sp>
        <p:nvSpPr>
          <p:cNvPr id="32" name="Text 30"/>
          <p:cNvSpPr/>
          <p:nvPr/>
        </p:nvSpPr>
        <p:spPr>
          <a:xfrm>
            <a:off x="9410548" y="2971800"/>
            <a:ext cx="2148840" cy="73152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Action evaluation</a:t>
            </a:r>
            <a:endParaRPr lang="en-US" sz="1600" dirty="0"/>
          </a:p>
        </p:txBody>
      </p:sp>
      <p:sp>
        <p:nvSpPr>
          <p:cNvPr id="33" name="Text 31"/>
          <p:cNvSpPr/>
          <p:nvPr/>
        </p:nvSpPr>
        <p:spPr>
          <a:xfrm>
            <a:off x="9410548" y="3611880"/>
            <a:ext cx="2148840" cy="228600"/>
          </a:xfrm>
          <a:prstGeom prst="rect">
            <a:avLst/>
          </a:prstGeom>
          <a:noFill/>
          <a:ln/>
        </p:spPr>
        <p:txBody>
          <a:bodyPr wrap="square" lIns="0" tIns="0" rIns="0" bIns="0" rtlCol="0" anchor="ctr"/>
          <a:lstStyle/>
          <a:p>
            <a:pPr indent="0" marL="0">
              <a:buNone/>
            </a:pPr>
            <a:r>
              <a:rPr lang="en-US" sz="900" i="1" spc="200" kern="0" dirty="0">
                <a:solidFill>
                  <a:srgbClr val="5B6478"/>
                </a:solidFill>
                <a:latin typeface="Calibri" pitchFamily="34" charset="0"/>
                <a:ea typeface="Calibri" pitchFamily="34" charset="-122"/>
                <a:cs typeface="Calibri" pitchFamily="34" charset="-120"/>
              </a:rPr>
              <a:t>produces</a:t>
            </a:r>
            <a:endParaRPr lang="en-US" sz="900" dirty="0"/>
          </a:p>
        </p:txBody>
      </p:sp>
      <p:sp>
        <p:nvSpPr>
          <p:cNvPr id="34" name="Text 32"/>
          <p:cNvSpPr/>
          <p:nvPr/>
        </p:nvSpPr>
        <p:spPr>
          <a:xfrm>
            <a:off x="9410548" y="3822192"/>
            <a:ext cx="2148840" cy="320040"/>
          </a:xfrm>
          <a:prstGeom prst="rect">
            <a:avLst/>
          </a:prstGeom>
          <a:noFill/>
          <a:ln/>
        </p:spPr>
        <p:txBody>
          <a:bodyPr wrap="square" lIns="0" tIns="0" rIns="0" bIns="0" rtlCol="0" anchor="ctr"/>
          <a:lstStyle/>
          <a:p>
            <a:pPr indent="0" marL="0">
              <a:buNone/>
            </a:pPr>
            <a:r>
              <a:rPr lang="en-US" sz="1300" b="1" dirty="0">
                <a:solidFill>
                  <a:srgbClr val="8E6F3F"/>
                </a:solidFill>
                <a:latin typeface="Consolas" pitchFamily="34" charset="0"/>
                <a:ea typeface="Consolas" pitchFamily="34" charset="-122"/>
                <a:cs typeface="Consolas" pitchFamily="34" charset="-120"/>
              </a:rPr>
              <a:t>Action Object</a:t>
            </a:r>
            <a:endParaRPr lang="en-US" sz="1300" dirty="0"/>
          </a:p>
        </p:txBody>
      </p:sp>
      <p:sp>
        <p:nvSpPr>
          <p:cNvPr id="35" name="Text 33"/>
          <p:cNvSpPr/>
          <p:nvPr/>
        </p:nvSpPr>
        <p:spPr>
          <a:xfrm>
            <a:off x="9410548" y="4206240"/>
            <a:ext cx="2148840" cy="685800"/>
          </a:xfrm>
          <a:prstGeom prst="rect">
            <a:avLst/>
          </a:prstGeom>
          <a:noFill/>
          <a:ln/>
        </p:spPr>
        <p:txBody>
          <a:bodyPr wrap="square" lIns="0" tIns="0" rIns="0" bIns="0" rtlCol="0" anchor="t"/>
          <a:lstStyle/>
          <a:p>
            <a:pPr indent="0" marL="0">
              <a:buNone/>
            </a:pPr>
            <a:r>
              <a:rPr lang="en-US" sz="1100" dirty="0">
                <a:solidFill>
                  <a:srgbClr val="0F172A"/>
                </a:solidFill>
                <a:latin typeface="Calibri" pitchFamily="34" charset="0"/>
                <a:ea typeface="Calibri" pitchFamily="34" charset="-122"/>
                <a:cs typeface="Calibri" pitchFamily="34" charset="-120"/>
              </a:rPr>
              <a:t>An action recorded as authoritative state under an Intervention Contract.</a:t>
            </a:r>
            <a:endParaRPr lang="en-US" sz="1100" dirty="0"/>
          </a:p>
        </p:txBody>
      </p:sp>
      <p:sp>
        <p:nvSpPr>
          <p:cNvPr id="36" name="Text 34"/>
          <p:cNvSpPr/>
          <p:nvPr/>
        </p:nvSpPr>
        <p:spPr>
          <a:xfrm>
            <a:off x="640080" y="5943600"/>
            <a:ext cx="10911535" cy="320040"/>
          </a:xfrm>
          <a:prstGeom prst="rect">
            <a:avLst/>
          </a:prstGeom>
          <a:noFill/>
          <a:ln/>
        </p:spPr>
        <p:txBody>
          <a:bodyPr wrap="square" lIns="0" tIns="0" rIns="0" bIns="0" rtlCol="0" anchor="ctr"/>
          <a:lstStyle/>
          <a:p>
            <a:pPr algn="ctr" indent="0" marL="0">
              <a:buNone/>
            </a:pPr>
            <a:r>
              <a:rPr lang="en-US" sz="1200" i="1" dirty="0">
                <a:solidFill>
                  <a:srgbClr val="0F172A"/>
                </a:solidFill>
                <a:latin typeface="Calibri" pitchFamily="34" charset="0"/>
                <a:ea typeface="Calibri" pitchFamily="34" charset="-122"/>
                <a:cs typeface="Calibri" pitchFamily="34" charset="-120"/>
              </a:rPr>
              <a:t>Evidence and Lineage are emitted at every boundary. Read access never triggers evaluation.</a:t>
            </a:r>
            <a:endParaRPr lang="en-US" sz="1200" dirty="0"/>
          </a:p>
        </p:txBody>
      </p:sp>
      <p:sp>
        <p:nvSpPr>
          <p:cNvPr id="37" name="Text 35"/>
          <p:cNvSpPr/>
          <p:nvPr/>
        </p:nvSpPr>
        <p:spPr>
          <a:xfrm>
            <a:off x="640080" y="6473952"/>
            <a:ext cx="73152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BareCount  ·  conceptual reference  ·  bc-docs-v3</a:t>
            </a:r>
            <a:endParaRPr lang="en-US" sz="900" dirty="0"/>
          </a:p>
        </p:txBody>
      </p:sp>
      <p:sp>
        <p:nvSpPr>
          <p:cNvPr id="38" name="Text 36"/>
          <p:cNvSpPr/>
          <p:nvPr/>
        </p:nvSpPr>
        <p:spPr>
          <a:xfrm>
            <a:off x="640080" y="6291072"/>
            <a:ext cx="10911535" cy="201168"/>
          </a:xfrm>
          <a:prstGeom prst="rect">
            <a:avLst/>
          </a:prstGeom>
          <a:noFill/>
          <a:ln/>
        </p:spPr>
        <p:txBody>
          <a:bodyPr wrap="square" lIns="0" tIns="0" rIns="0" bIns="0" rtlCol="0" anchor="ctr"/>
          <a:lstStyle/>
          <a:p>
            <a:pPr algn="l" indent="0" marL="0">
              <a:buNone/>
            </a:pPr>
            <a:r>
              <a:rPr lang="en-US" sz="900" i="1" dirty="0">
                <a:solidFill>
                  <a:srgbClr val="8E6F3F"/>
                </a:solidFill>
                <a:latin typeface="Calibri" pitchFamily="34" charset="0"/>
                <a:ea typeface="Calibri" pitchFamily="34" charset="-122"/>
                <a:cs typeface="Calibri" pitchFamily="34" charset="-120"/>
              </a:rPr>
              <a:t>Foundation. The Evaluation Boundaries.</a:t>
            </a:r>
            <a:endParaRPr lang="en-US" sz="900" dirty="0"/>
          </a:p>
        </p:txBody>
      </p:sp>
      <p:sp>
        <p:nvSpPr>
          <p:cNvPr id="39" name="Text 37"/>
          <p:cNvSpPr/>
          <p:nvPr/>
        </p:nvSpPr>
        <p:spPr>
          <a:xfrm>
            <a:off x="11277295" y="6473952"/>
            <a:ext cx="2743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640080" y="667512"/>
            <a:ext cx="164592" cy="164592"/>
          </a:xfrm>
          <a:prstGeom prst="rect">
            <a:avLst/>
          </a:prstGeom>
          <a:solidFill>
            <a:srgbClr val="B8945F"/>
          </a:solidFill>
          <a:ln/>
        </p:spPr>
      </p:sp>
      <p:sp>
        <p:nvSpPr>
          <p:cNvPr id="3" name="Text 1"/>
          <p:cNvSpPr/>
          <p:nvPr/>
        </p:nvSpPr>
        <p:spPr>
          <a:xfrm>
            <a:off x="987552" y="502920"/>
            <a:ext cx="10911535"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Georgia" pitchFamily="34" charset="0"/>
                <a:ea typeface="Georgia" pitchFamily="34" charset="-122"/>
                <a:cs typeface="Georgia" pitchFamily="34" charset="-120"/>
              </a:rPr>
              <a:t>Six authoritative objects</a:t>
            </a:r>
            <a:endParaRPr lang="en-US" sz="3000" dirty="0"/>
          </a:p>
        </p:txBody>
      </p:sp>
      <p:sp>
        <p:nvSpPr>
          <p:cNvPr id="4" name="Text 2"/>
          <p:cNvSpPr/>
          <p:nvPr/>
        </p:nvSpPr>
        <p:spPr>
          <a:xfrm>
            <a:off x="640080" y="1280160"/>
            <a:ext cx="10911535" cy="59436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Four progression objects carry state. Two proof objects carry evidence. All six are immutable. Corrections create new versions; the original remains addressable.</a:t>
            </a:r>
            <a:endParaRPr lang="en-US" sz="1300" dirty="0"/>
          </a:p>
        </p:txBody>
      </p:sp>
      <p:sp>
        <p:nvSpPr>
          <p:cNvPr id="5" name="Text 3"/>
          <p:cNvSpPr/>
          <p:nvPr/>
        </p:nvSpPr>
        <p:spPr>
          <a:xfrm>
            <a:off x="472288" y="1810512"/>
            <a:ext cx="3657600" cy="292608"/>
          </a:xfrm>
          <a:prstGeom prst="rect">
            <a:avLst/>
          </a:prstGeom>
          <a:noFill/>
          <a:ln/>
        </p:spPr>
        <p:txBody>
          <a:bodyPr wrap="square" lIns="0" tIns="0" rIns="0" bIns="0" rtlCol="0" anchor="ctr"/>
          <a:lstStyle/>
          <a:p>
            <a:pPr indent="0" marL="0">
              <a:buNone/>
            </a:pPr>
            <a:r>
              <a:rPr lang="en-US" sz="1000" spc="300" kern="0" dirty="0">
                <a:solidFill>
                  <a:srgbClr val="5B6478"/>
                </a:solidFill>
                <a:latin typeface="Calibri" pitchFamily="34" charset="0"/>
                <a:ea typeface="Calibri" pitchFamily="34" charset="-122"/>
                <a:cs typeface="Calibri" pitchFamily="34" charset="-120"/>
              </a:rPr>
              <a:t>Progression objects</a:t>
            </a:r>
            <a:endParaRPr lang="en-US" sz="1000" dirty="0"/>
          </a:p>
        </p:txBody>
      </p:sp>
      <p:sp>
        <p:nvSpPr>
          <p:cNvPr id="6" name="Shape 4"/>
          <p:cNvSpPr/>
          <p:nvPr/>
        </p:nvSpPr>
        <p:spPr>
          <a:xfrm>
            <a:off x="472288" y="2194560"/>
            <a:ext cx="2606040" cy="1691640"/>
          </a:xfrm>
          <a:prstGeom prst="rect">
            <a:avLst/>
          </a:prstGeom>
          <a:solidFill>
            <a:srgbClr val="FFFFFF"/>
          </a:solidFill>
          <a:ln w="9525">
            <a:solidFill>
              <a:srgbClr val="CFD6E1"/>
            </a:solidFill>
            <a:prstDash val="solid"/>
          </a:ln>
        </p:spPr>
      </p:sp>
      <p:sp>
        <p:nvSpPr>
          <p:cNvPr id="7" name="Shape 5"/>
          <p:cNvSpPr/>
          <p:nvPr/>
        </p:nvSpPr>
        <p:spPr>
          <a:xfrm>
            <a:off x="472288" y="2194560"/>
            <a:ext cx="73152" cy="1691640"/>
          </a:xfrm>
          <a:prstGeom prst="rect">
            <a:avLst/>
          </a:prstGeom>
          <a:solidFill>
            <a:srgbClr val="B8945F"/>
          </a:solidFill>
          <a:ln/>
        </p:spPr>
      </p:sp>
      <p:sp>
        <p:nvSpPr>
          <p:cNvPr id="8" name="Text 6"/>
          <p:cNvSpPr/>
          <p:nvPr/>
        </p:nvSpPr>
        <p:spPr>
          <a:xfrm>
            <a:off x="700888" y="2514600"/>
            <a:ext cx="2240280" cy="45720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Source Object</a:t>
            </a:r>
            <a:endParaRPr lang="en-US" sz="1600" dirty="0"/>
          </a:p>
        </p:txBody>
      </p:sp>
      <p:sp>
        <p:nvSpPr>
          <p:cNvPr id="9" name="Text 7"/>
          <p:cNvSpPr/>
          <p:nvPr/>
        </p:nvSpPr>
        <p:spPr>
          <a:xfrm>
            <a:off x="700888" y="3063240"/>
            <a:ext cx="2240280" cy="27432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immutable. versioned.</a:t>
            </a:r>
            <a:endParaRPr lang="en-US" sz="1000" dirty="0"/>
          </a:p>
        </p:txBody>
      </p:sp>
      <p:sp>
        <p:nvSpPr>
          <p:cNvPr id="10" name="Text 8"/>
          <p:cNvSpPr/>
          <p:nvPr/>
        </p:nvSpPr>
        <p:spPr>
          <a:xfrm>
            <a:off x="700888" y="3337560"/>
            <a:ext cx="2240280" cy="4114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state admitted</a:t>
            </a:r>
            <a:endParaRPr lang="en-US" sz="1100" dirty="0"/>
          </a:p>
        </p:txBody>
      </p:sp>
      <p:sp>
        <p:nvSpPr>
          <p:cNvPr id="11" name="Shape 9"/>
          <p:cNvSpPr/>
          <p:nvPr/>
        </p:nvSpPr>
        <p:spPr>
          <a:xfrm>
            <a:off x="3352648" y="2194560"/>
            <a:ext cx="2606040" cy="1691640"/>
          </a:xfrm>
          <a:prstGeom prst="rect">
            <a:avLst/>
          </a:prstGeom>
          <a:solidFill>
            <a:srgbClr val="FFFFFF"/>
          </a:solidFill>
          <a:ln w="9525">
            <a:solidFill>
              <a:srgbClr val="CFD6E1"/>
            </a:solidFill>
            <a:prstDash val="solid"/>
          </a:ln>
        </p:spPr>
      </p:sp>
      <p:sp>
        <p:nvSpPr>
          <p:cNvPr id="12" name="Shape 10"/>
          <p:cNvSpPr/>
          <p:nvPr/>
        </p:nvSpPr>
        <p:spPr>
          <a:xfrm>
            <a:off x="3352648" y="2194560"/>
            <a:ext cx="73152" cy="1691640"/>
          </a:xfrm>
          <a:prstGeom prst="rect">
            <a:avLst/>
          </a:prstGeom>
          <a:solidFill>
            <a:srgbClr val="B8945F"/>
          </a:solidFill>
          <a:ln/>
        </p:spPr>
      </p:sp>
      <p:sp>
        <p:nvSpPr>
          <p:cNvPr id="13" name="Text 11"/>
          <p:cNvSpPr/>
          <p:nvPr/>
        </p:nvSpPr>
        <p:spPr>
          <a:xfrm>
            <a:off x="3581248" y="2514600"/>
            <a:ext cx="2240280" cy="45720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Canonical Object</a:t>
            </a:r>
            <a:endParaRPr lang="en-US" sz="1600" dirty="0"/>
          </a:p>
        </p:txBody>
      </p:sp>
      <p:sp>
        <p:nvSpPr>
          <p:cNvPr id="14" name="Text 12"/>
          <p:cNvSpPr/>
          <p:nvPr/>
        </p:nvSpPr>
        <p:spPr>
          <a:xfrm>
            <a:off x="3581248" y="3063240"/>
            <a:ext cx="2240280" cy="27432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immutable. versioned.</a:t>
            </a:r>
            <a:endParaRPr lang="en-US" sz="1000" dirty="0"/>
          </a:p>
        </p:txBody>
      </p:sp>
      <p:sp>
        <p:nvSpPr>
          <p:cNvPr id="15" name="Text 13"/>
          <p:cNvSpPr/>
          <p:nvPr/>
        </p:nvSpPr>
        <p:spPr>
          <a:xfrm>
            <a:off x="3581248" y="3337560"/>
            <a:ext cx="2240280" cy="4114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meaning evaluated</a:t>
            </a:r>
            <a:endParaRPr lang="en-US" sz="1100" dirty="0"/>
          </a:p>
        </p:txBody>
      </p:sp>
      <p:sp>
        <p:nvSpPr>
          <p:cNvPr id="16" name="Shape 14"/>
          <p:cNvSpPr/>
          <p:nvPr/>
        </p:nvSpPr>
        <p:spPr>
          <a:xfrm>
            <a:off x="6233008" y="2194560"/>
            <a:ext cx="2606040" cy="1691640"/>
          </a:xfrm>
          <a:prstGeom prst="rect">
            <a:avLst/>
          </a:prstGeom>
          <a:solidFill>
            <a:srgbClr val="FFFFFF"/>
          </a:solidFill>
          <a:ln w="9525">
            <a:solidFill>
              <a:srgbClr val="CFD6E1"/>
            </a:solidFill>
            <a:prstDash val="solid"/>
          </a:ln>
        </p:spPr>
      </p:sp>
      <p:sp>
        <p:nvSpPr>
          <p:cNvPr id="17" name="Shape 15"/>
          <p:cNvSpPr/>
          <p:nvPr/>
        </p:nvSpPr>
        <p:spPr>
          <a:xfrm>
            <a:off x="6233008" y="2194560"/>
            <a:ext cx="73152" cy="1691640"/>
          </a:xfrm>
          <a:prstGeom prst="rect">
            <a:avLst/>
          </a:prstGeom>
          <a:solidFill>
            <a:srgbClr val="B8945F"/>
          </a:solidFill>
          <a:ln/>
        </p:spPr>
      </p:sp>
      <p:sp>
        <p:nvSpPr>
          <p:cNvPr id="18" name="Text 16"/>
          <p:cNvSpPr/>
          <p:nvPr/>
        </p:nvSpPr>
        <p:spPr>
          <a:xfrm>
            <a:off x="6461608" y="2514600"/>
            <a:ext cx="2240280" cy="45720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Metric Snapshot</a:t>
            </a:r>
            <a:endParaRPr lang="en-US" sz="1600" dirty="0"/>
          </a:p>
        </p:txBody>
      </p:sp>
      <p:sp>
        <p:nvSpPr>
          <p:cNvPr id="19" name="Text 17"/>
          <p:cNvSpPr/>
          <p:nvPr/>
        </p:nvSpPr>
        <p:spPr>
          <a:xfrm>
            <a:off x="6461608" y="3063240"/>
            <a:ext cx="2240280" cy="27432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immutable. versioned.</a:t>
            </a:r>
            <a:endParaRPr lang="en-US" sz="1000" dirty="0"/>
          </a:p>
        </p:txBody>
      </p:sp>
      <p:sp>
        <p:nvSpPr>
          <p:cNvPr id="20" name="Text 18"/>
          <p:cNvSpPr/>
          <p:nvPr/>
        </p:nvSpPr>
        <p:spPr>
          <a:xfrm>
            <a:off x="6461608" y="3337560"/>
            <a:ext cx="2240280" cy="4114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metric resolved</a:t>
            </a:r>
            <a:endParaRPr lang="en-US" sz="1100" dirty="0"/>
          </a:p>
        </p:txBody>
      </p:sp>
      <p:sp>
        <p:nvSpPr>
          <p:cNvPr id="21" name="Shape 19"/>
          <p:cNvSpPr/>
          <p:nvPr/>
        </p:nvSpPr>
        <p:spPr>
          <a:xfrm>
            <a:off x="9113368" y="2194560"/>
            <a:ext cx="2606040" cy="1691640"/>
          </a:xfrm>
          <a:prstGeom prst="rect">
            <a:avLst/>
          </a:prstGeom>
          <a:solidFill>
            <a:srgbClr val="FFFFFF"/>
          </a:solidFill>
          <a:ln w="9525">
            <a:solidFill>
              <a:srgbClr val="CFD6E1"/>
            </a:solidFill>
            <a:prstDash val="solid"/>
          </a:ln>
        </p:spPr>
      </p:sp>
      <p:sp>
        <p:nvSpPr>
          <p:cNvPr id="22" name="Shape 20"/>
          <p:cNvSpPr/>
          <p:nvPr/>
        </p:nvSpPr>
        <p:spPr>
          <a:xfrm>
            <a:off x="9113368" y="2194560"/>
            <a:ext cx="73152" cy="1691640"/>
          </a:xfrm>
          <a:prstGeom prst="rect">
            <a:avLst/>
          </a:prstGeom>
          <a:solidFill>
            <a:srgbClr val="B8945F"/>
          </a:solidFill>
          <a:ln/>
        </p:spPr>
      </p:sp>
      <p:sp>
        <p:nvSpPr>
          <p:cNvPr id="23" name="Text 21"/>
          <p:cNvSpPr/>
          <p:nvPr/>
        </p:nvSpPr>
        <p:spPr>
          <a:xfrm>
            <a:off x="9341968" y="2514600"/>
            <a:ext cx="2240280" cy="45720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Action Object</a:t>
            </a:r>
            <a:endParaRPr lang="en-US" sz="1600" dirty="0"/>
          </a:p>
        </p:txBody>
      </p:sp>
      <p:sp>
        <p:nvSpPr>
          <p:cNvPr id="24" name="Text 22"/>
          <p:cNvSpPr/>
          <p:nvPr/>
        </p:nvSpPr>
        <p:spPr>
          <a:xfrm>
            <a:off x="9341968" y="3063240"/>
            <a:ext cx="2240280" cy="27432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immutable. versioned.</a:t>
            </a:r>
            <a:endParaRPr lang="en-US" sz="1000" dirty="0"/>
          </a:p>
        </p:txBody>
      </p:sp>
      <p:sp>
        <p:nvSpPr>
          <p:cNvPr id="25" name="Text 23"/>
          <p:cNvSpPr/>
          <p:nvPr/>
        </p:nvSpPr>
        <p:spPr>
          <a:xfrm>
            <a:off x="9341968" y="3337560"/>
            <a:ext cx="2240280" cy="411480"/>
          </a:xfrm>
          <a:prstGeom prst="rect">
            <a:avLst/>
          </a:prstGeom>
          <a:noFill/>
          <a:ln/>
        </p:spPr>
        <p:txBody>
          <a:bodyPr wrap="square" lIns="0" tIns="0" rIns="0" bIns="0" rtlCol="0" anchor="ctr"/>
          <a:lstStyle/>
          <a:p>
            <a:pPr indent="0" marL="0">
              <a:buNone/>
            </a:pPr>
            <a:r>
              <a:rPr lang="en-US" sz="1100" dirty="0">
                <a:solidFill>
                  <a:srgbClr val="0F172A"/>
                </a:solidFill>
                <a:latin typeface="Calibri" pitchFamily="34" charset="0"/>
                <a:ea typeface="Calibri" pitchFamily="34" charset="-122"/>
                <a:cs typeface="Calibri" pitchFamily="34" charset="-120"/>
              </a:rPr>
              <a:t>action recorded</a:t>
            </a:r>
            <a:endParaRPr lang="en-US" sz="1100" dirty="0"/>
          </a:p>
        </p:txBody>
      </p:sp>
      <p:sp>
        <p:nvSpPr>
          <p:cNvPr id="26" name="Text 24"/>
          <p:cNvSpPr/>
          <p:nvPr/>
        </p:nvSpPr>
        <p:spPr>
          <a:xfrm>
            <a:off x="472288" y="4142232"/>
            <a:ext cx="3657600" cy="292608"/>
          </a:xfrm>
          <a:prstGeom prst="rect">
            <a:avLst/>
          </a:prstGeom>
          <a:noFill/>
          <a:ln/>
        </p:spPr>
        <p:txBody>
          <a:bodyPr wrap="square" lIns="0" tIns="0" rIns="0" bIns="0" rtlCol="0" anchor="ctr"/>
          <a:lstStyle/>
          <a:p>
            <a:pPr indent="0" marL="0">
              <a:buNone/>
            </a:pPr>
            <a:r>
              <a:rPr lang="en-US" sz="1000" spc="300" kern="0" dirty="0">
                <a:solidFill>
                  <a:srgbClr val="5B6478"/>
                </a:solidFill>
                <a:latin typeface="Calibri" pitchFamily="34" charset="0"/>
                <a:ea typeface="Calibri" pitchFamily="34" charset="-122"/>
                <a:cs typeface="Calibri" pitchFamily="34" charset="-120"/>
              </a:rPr>
              <a:t>Proof objects</a:t>
            </a:r>
            <a:endParaRPr lang="en-US" sz="1000" dirty="0"/>
          </a:p>
        </p:txBody>
      </p:sp>
      <p:sp>
        <p:nvSpPr>
          <p:cNvPr id="27" name="Shape 25"/>
          <p:cNvSpPr/>
          <p:nvPr/>
        </p:nvSpPr>
        <p:spPr>
          <a:xfrm>
            <a:off x="472288" y="4526280"/>
            <a:ext cx="5440680" cy="1691640"/>
          </a:xfrm>
          <a:prstGeom prst="rect">
            <a:avLst/>
          </a:prstGeom>
          <a:solidFill>
            <a:srgbClr val="F2F4F8"/>
          </a:solidFill>
          <a:ln w="9525">
            <a:solidFill>
              <a:srgbClr val="CFD6E1"/>
            </a:solidFill>
            <a:prstDash val="solid"/>
          </a:ln>
        </p:spPr>
      </p:sp>
      <p:sp>
        <p:nvSpPr>
          <p:cNvPr id="28" name="Shape 26"/>
          <p:cNvSpPr/>
          <p:nvPr/>
        </p:nvSpPr>
        <p:spPr>
          <a:xfrm>
            <a:off x="472288" y="4526280"/>
            <a:ext cx="73152" cy="1691640"/>
          </a:xfrm>
          <a:prstGeom prst="rect">
            <a:avLst/>
          </a:prstGeom>
          <a:solidFill>
            <a:srgbClr val="0F172A"/>
          </a:solidFill>
          <a:ln/>
        </p:spPr>
      </p:sp>
      <p:sp>
        <p:nvSpPr>
          <p:cNvPr id="29" name="Text 27"/>
          <p:cNvSpPr/>
          <p:nvPr/>
        </p:nvSpPr>
        <p:spPr>
          <a:xfrm>
            <a:off x="746608" y="4800600"/>
            <a:ext cx="4983480" cy="45720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Evidence</a:t>
            </a:r>
            <a:endParaRPr lang="en-US" sz="1800" dirty="0"/>
          </a:p>
        </p:txBody>
      </p:sp>
      <p:sp>
        <p:nvSpPr>
          <p:cNvPr id="30" name="Text 28"/>
          <p:cNvSpPr/>
          <p:nvPr/>
        </p:nvSpPr>
        <p:spPr>
          <a:xfrm>
            <a:off x="746608" y="5394960"/>
            <a:ext cx="4983480" cy="7772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Per-record outcomes recorded at the same act that produced the object. Append-only.</a:t>
            </a:r>
            <a:endParaRPr lang="en-US" sz="1200" dirty="0"/>
          </a:p>
        </p:txBody>
      </p:sp>
      <p:sp>
        <p:nvSpPr>
          <p:cNvPr id="31" name="Shape 29"/>
          <p:cNvSpPr/>
          <p:nvPr/>
        </p:nvSpPr>
        <p:spPr>
          <a:xfrm>
            <a:off x="6278728" y="4526280"/>
            <a:ext cx="5440680" cy="1691640"/>
          </a:xfrm>
          <a:prstGeom prst="rect">
            <a:avLst/>
          </a:prstGeom>
          <a:solidFill>
            <a:srgbClr val="F2F4F8"/>
          </a:solidFill>
          <a:ln w="9525">
            <a:solidFill>
              <a:srgbClr val="CFD6E1"/>
            </a:solidFill>
            <a:prstDash val="solid"/>
          </a:ln>
        </p:spPr>
      </p:sp>
      <p:sp>
        <p:nvSpPr>
          <p:cNvPr id="32" name="Shape 30"/>
          <p:cNvSpPr/>
          <p:nvPr/>
        </p:nvSpPr>
        <p:spPr>
          <a:xfrm>
            <a:off x="6278728" y="4526280"/>
            <a:ext cx="73152" cy="1691640"/>
          </a:xfrm>
          <a:prstGeom prst="rect">
            <a:avLst/>
          </a:prstGeom>
          <a:solidFill>
            <a:srgbClr val="0F172A"/>
          </a:solidFill>
          <a:ln/>
        </p:spPr>
      </p:sp>
      <p:sp>
        <p:nvSpPr>
          <p:cNvPr id="33" name="Text 31"/>
          <p:cNvSpPr/>
          <p:nvPr/>
        </p:nvSpPr>
        <p:spPr>
          <a:xfrm>
            <a:off x="6553048" y="4800600"/>
            <a:ext cx="4983480" cy="45720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Lineage</a:t>
            </a:r>
            <a:endParaRPr lang="en-US" sz="1800" dirty="0"/>
          </a:p>
        </p:txBody>
      </p:sp>
      <p:sp>
        <p:nvSpPr>
          <p:cNvPr id="34" name="Text 32"/>
          <p:cNvSpPr/>
          <p:nvPr/>
        </p:nvSpPr>
        <p:spPr>
          <a:xfrm>
            <a:off x="6553048" y="5394960"/>
            <a:ext cx="4983480" cy="77724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References that bind a produced object to its predecessors. Append-only.</a:t>
            </a:r>
            <a:endParaRPr lang="en-US" sz="1200" dirty="0"/>
          </a:p>
        </p:txBody>
      </p:sp>
      <p:sp>
        <p:nvSpPr>
          <p:cNvPr id="35" name="Text 33"/>
          <p:cNvSpPr/>
          <p:nvPr/>
        </p:nvSpPr>
        <p:spPr>
          <a:xfrm>
            <a:off x="640080" y="6473952"/>
            <a:ext cx="73152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BareCount  ·  conceptual reference  ·  bc-docs-v3</a:t>
            </a:r>
            <a:endParaRPr lang="en-US" sz="900" dirty="0"/>
          </a:p>
        </p:txBody>
      </p:sp>
      <p:sp>
        <p:nvSpPr>
          <p:cNvPr id="36" name="Text 34"/>
          <p:cNvSpPr/>
          <p:nvPr/>
        </p:nvSpPr>
        <p:spPr>
          <a:xfrm>
            <a:off x="640080" y="6291072"/>
            <a:ext cx="10911535" cy="201168"/>
          </a:xfrm>
          <a:prstGeom prst="rect">
            <a:avLst/>
          </a:prstGeom>
          <a:noFill/>
          <a:ln/>
        </p:spPr>
        <p:txBody>
          <a:bodyPr wrap="square" lIns="0" tIns="0" rIns="0" bIns="0" rtlCol="0" anchor="ctr"/>
          <a:lstStyle/>
          <a:p>
            <a:pPr algn="l" indent="0" marL="0">
              <a:buNone/>
            </a:pPr>
            <a:r>
              <a:rPr lang="en-US" sz="900" i="1" dirty="0">
                <a:solidFill>
                  <a:srgbClr val="8E6F3F"/>
                </a:solidFill>
                <a:latin typeface="Calibri" pitchFamily="34" charset="0"/>
                <a:ea typeface="Calibri" pitchFamily="34" charset="-122"/>
                <a:cs typeface="Calibri" pitchFamily="34" charset="-120"/>
              </a:rPr>
              <a:t>Foundation. The Object Model.</a:t>
            </a:r>
            <a:endParaRPr lang="en-US" sz="900" dirty="0"/>
          </a:p>
        </p:txBody>
      </p:sp>
      <p:sp>
        <p:nvSpPr>
          <p:cNvPr id="37" name="Text 35"/>
          <p:cNvSpPr/>
          <p:nvPr/>
        </p:nvSpPr>
        <p:spPr>
          <a:xfrm>
            <a:off x="11277295" y="6473952"/>
            <a:ext cx="2743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640080" y="667512"/>
            <a:ext cx="164592" cy="164592"/>
          </a:xfrm>
          <a:prstGeom prst="rect">
            <a:avLst/>
          </a:prstGeom>
          <a:solidFill>
            <a:srgbClr val="B8945F"/>
          </a:solidFill>
          <a:ln/>
        </p:spPr>
      </p:sp>
      <p:sp>
        <p:nvSpPr>
          <p:cNvPr id="3" name="Text 1"/>
          <p:cNvSpPr/>
          <p:nvPr/>
        </p:nvSpPr>
        <p:spPr>
          <a:xfrm>
            <a:off x="987552" y="502920"/>
            <a:ext cx="10911535"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Georgia" pitchFamily="34" charset="0"/>
                <a:ea typeface="Georgia" pitchFamily="34" charset="-122"/>
                <a:cs typeface="Georgia" pitchFamily="34" charset="-120"/>
              </a:rPr>
              <a:t>Multi-source by design. Multi-standard by binding.</a:t>
            </a:r>
            <a:endParaRPr lang="en-US" sz="3000" dirty="0"/>
          </a:p>
        </p:txBody>
      </p:sp>
      <p:sp>
        <p:nvSpPr>
          <p:cNvPr id="4" name="Text 2"/>
          <p:cNvSpPr/>
          <p:nvPr/>
        </p:nvSpPr>
        <p:spPr>
          <a:xfrm>
            <a:off x="640080" y="1280160"/>
            <a:ext cx="10911535" cy="64008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The same admitted facts bind to every standard the enterprise reports under. The canonical layer sits between the systems the enterprise actually runs and the standards the enterprise actually reports.</a:t>
            </a:r>
            <a:endParaRPr lang="en-US" sz="1300" dirty="0"/>
          </a:p>
        </p:txBody>
      </p:sp>
      <p:sp>
        <p:nvSpPr>
          <p:cNvPr id="5" name="Shape 3"/>
          <p:cNvSpPr/>
          <p:nvPr/>
        </p:nvSpPr>
        <p:spPr>
          <a:xfrm>
            <a:off x="640080" y="2331720"/>
            <a:ext cx="3291840" cy="3566160"/>
          </a:xfrm>
          <a:prstGeom prst="rect">
            <a:avLst/>
          </a:prstGeom>
          <a:solidFill>
            <a:srgbClr val="FFFFFF"/>
          </a:solidFill>
          <a:ln w="9525">
            <a:solidFill>
              <a:srgbClr val="CFD6E1"/>
            </a:solidFill>
            <a:prstDash val="solid"/>
          </a:ln>
        </p:spPr>
      </p:sp>
      <p:sp>
        <p:nvSpPr>
          <p:cNvPr id="6" name="Shape 4"/>
          <p:cNvSpPr/>
          <p:nvPr/>
        </p:nvSpPr>
        <p:spPr>
          <a:xfrm>
            <a:off x="640080" y="2331720"/>
            <a:ext cx="3291840" cy="91440"/>
          </a:xfrm>
          <a:prstGeom prst="rect">
            <a:avLst/>
          </a:prstGeom>
          <a:solidFill>
            <a:srgbClr val="B8945F"/>
          </a:solidFill>
          <a:ln/>
        </p:spPr>
      </p:sp>
      <p:sp>
        <p:nvSpPr>
          <p:cNvPr id="7" name="Text 5"/>
          <p:cNvSpPr/>
          <p:nvPr/>
        </p:nvSpPr>
        <p:spPr>
          <a:xfrm>
            <a:off x="868680" y="2560320"/>
            <a:ext cx="2834640" cy="41148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Source systems</a:t>
            </a:r>
            <a:endParaRPr lang="en-US" sz="1600" dirty="0"/>
          </a:p>
        </p:txBody>
      </p:sp>
      <p:sp>
        <p:nvSpPr>
          <p:cNvPr id="8" name="Text 6"/>
          <p:cNvSpPr/>
          <p:nvPr/>
        </p:nvSpPr>
        <p:spPr>
          <a:xfrm>
            <a:off x="868680" y="2971800"/>
            <a:ext cx="2834640" cy="27432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any system the enterprise runs</a:t>
            </a:r>
            <a:endParaRPr lang="en-US" sz="1000" dirty="0"/>
          </a:p>
        </p:txBody>
      </p:sp>
      <p:sp>
        <p:nvSpPr>
          <p:cNvPr id="9" name="Text 7"/>
          <p:cNvSpPr/>
          <p:nvPr/>
        </p:nvSpPr>
        <p:spPr>
          <a:xfrm>
            <a:off x="868680" y="3383280"/>
            <a:ext cx="2834640" cy="23774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ERPs (one or many)</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Payroll systems</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Billing platforms</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Treasury systems</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Subsidiary ledgers</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Spreadsheets and exports</a:t>
            </a:r>
            <a:endParaRPr lang="en-US" sz="1200" dirty="0"/>
          </a:p>
        </p:txBody>
      </p:sp>
      <p:sp>
        <p:nvSpPr>
          <p:cNvPr id="10" name="Shape 8"/>
          <p:cNvSpPr/>
          <p:nvPr/>
        </p:nvSpPr>
        <p:spPr>
          <a:xfrm>
            <a:off x="4206240" y="2331720"/>
            <a:ext cx="4206240" cy="3566160"/>
          </a:xfrm>
          <a:prstGeom prst="rect">
            <a:avLst/>
          </a:prstGeom>
          <a:solidFill>
            <a:srgbClr val="0F172A"/>
          </a:solidFill>
          <a:ln/>
        </p:spPr>
      </p:sp>
      <p:sp>
        <p:nvSpPr>
          <p:cNvPr id="11" name="Shape 9"/>
          <p:cNvSpPr/>
          <p:nvPr/>
        </p:nvSpPr>
        <p:spPr>
          <a:xfrm>
            <a:off x="4206240" y="2331720"/>
            <a:ext cx="4206240" cy="91440"/>
          </a:xfrm>
          <a:prstGeom prst="rect">
            <a:avLst/>
          </a:prstGeom>
          <a:solidFill>
            <a:srgbClr val="B8945F"/>
          </a:solidFill>
          <a:ln/>
        </p:spPr>
      </p:sp>
      <p:sp>
        <p:nvSpPr>
          <p:cNvPr id="12" name="Text 10"/>
          <p:cNvSpPr/>
          <p:nvPr/>
        </p:nvSpPr>
        <p:spPr>
          <a:xfrm>
            <a:off x="4480560" y="2606040"/>
            <a:ext cx="3657600" cy="411480"/>
          </a:xfrm>
          <a:prstGeom prst="rect">
            <a:avLst/>
          </a:prstGeom>
          <a:noFill/>
          <a:ln/>
        </p:spPr>
        <p:txBody>
          <a:bodyPr wrap="square" lIns="0" tIns="0" rIns="0" bIns="0" rtlCol="0" anchor="ctr"/>
          <a:lstStyle/>
          <a:p>
            <a:pPr indent="0" marL="0">
              <a:buNone/>
            </a:pPr>
            <a:r>
              <a:rPr lang="en-US" sz="1700" b="1" dirty="0">
                <a:solidFill>
                  <a:srgbClr val="B8945F"/>
                </a:solidFill>
                <a:latin typeface="Georgia" pitchFamily="34" charset="0"/>
                <a:ea typeface="Georgia" pitchFamily="34" charset="-122"/>
                <a:cs typeface="Georgia" pitchFamily="34" charset="-120"/>
              </a:rPr>
              <a:t>Canonical evaluation</a:t>
            </a:r>
            <a:endParaRPr lang="en-US" sz="1700" dirty="0"/>
          </a:p>
        </p:txBody>
      </p:sp>
      <p:sp>
        <p:nvSpPr>
          <p:cNvPr id="13" name="Text 11"/>
          <p:cNvSpPr/>
          <p:nvPr/>
        </p:nvSpPr>
        <p:spPr>
          <a:xfrm>
            <a:off x="4480560" y="3044952"/>
            <a:ext cx="3657600" cy="274320"/>
          </a:xfrm>
          <a:prstGeom prst="rect">
            <a:avLst/>
          </a:prstGeom>
          <a:noFill/>
          <a:ln/>
        </p:spPr>
        <p:txBody>
          <a:bodyPr wrap="square" lIns="0" tIns="0" rIns="0" bIns="0" rtlCol="0" anchor="ctr"/>
          <a:lstStyle/>
          <a:p>
            <a:pPr indent="0" marL="0">
              <a:buNone/>
            </a:pPr>
            <a:r>
              <a:rPr lang="en-US" sz="1000" i="1" dirty="0">
                <a:solidFill>
                  <a:srgbClr val="E5E9F0"/>
                </a:solidFill>
                <a:latin typeface="Calibri" pitchFamily="34" charset="0"/>
                <a:ea typeface="Calibri" pitchFamily="34" charset="-122"/>
                <a:cs typeface="Calibri" pitchFamily="34" charset="-120"/>
              </a:rPr>
              <a:t>one semantic act per object version</a:t>
            </a:r>
            <a:endParaRPr lang="en-US" sz="1000" dirty="0"/>
          </a:p>
        </p:txBody>
      </p:sp>
      <p:sp>
        <p:nvSpPr>
          <p:cNvPr id="14" name="Text 12"/>
          <p:cNvSpPr/>
          <p:nvPr/>
        </p:nvSpPr>
        <p:spPr>
          <a:xfrm>
            <a:off x="4480560" y="3429000"/>
            <a:ext cx="3657600" cy="233172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E5E9F0"/>
                </a:solidFill>
                <a:latin typeface="Calibri" pitchFamily="34" charset="0"/>
                <a:ea typeface="Calibri" pitchFamily="34" charset="-122"/>
                <a:cs typeface="Calibri" pitchFamily="34" charset="-120"/>
              </a:rPr>
              <a:t>Governed by Canonical Contracts</a:t>
            </a:r>
            <a:endParaRPr lang="en-US" sz="1200" dirty="0"/>
          </a:p>
          <a:p>
            <a:pPr marL="342900" indent="-342900">
              <a:spcAft>
                <a:spcPts val="400"/>
              </a:spcAft>
              <a:buSzPct val="100000"/>
              <a:buChar char="•"/>
            </a:pPr>
            <a:r>
              <a:rPr lang="en-US" sz="1200" dirty="0">
                <a:solidFill>
                  <a:srgbClr val="E5E9F0"/>
                </a:solidFill>
                <a:latin typeface="Calibri" pitchFamily="34" charset="0"/>
                <a:ea typeface="Calibri" pitchFamily="34" charset="-122"/>
                <a:cs typeface="Calibri" pitchFamily="34" charset="-120"/>
              </a:rPr>
              <a:t>Produced once per Canonical Object version</a:t>
            </a:r>
            <a:endParaRPr lang="en-US" sz="1200" dirty="0"/>
          </a:p>
          <a:p>
            <a:pPr marL="342900" indent="-342900">
              <a:spcAft>
                <a:spcPts val="400"/>
              </a:spcAft>
              <a:buSzPct val="100000"/>
              <a:buChar char="•"/>
            </a:pPr>
            <a:r>
              <a:rPr lang="en-US" sz="1200" dirty="0">
                <a:solidFill>
                  <a:srgbClr val="E5E9F0"/>
                </a:solidFill>
                <a:latin typeface="Calibri" pitchFamily="34" charset="0"/>
                <a:ea typeface="Calibri" pitchFamily="34" charset="-122"/>
                <a:cs typeface="Calibri" pitchFamily="34" charset="-120"/>
              </a:rPr>
              <a:t>Evidence and Lineage emitted at the same act</a:t>
            </a:r>
            <a:endParaRPr lang="en-US" sz="1200" dirty="0"/>
          </a:p>
          <a:p>
            <a:pPr marL="342900" indent="-342900">
              <a:spcAft>
                <a:spcPts val="400"/>
              </a:spcAft>
              <a:buSzPct val="100000"/>
              <a:buChar char="•"/>
            </a:pPr>
            <a:r>
              <a:rPr lang="en-US" sz="1200" dirty="0">
                <a:solidFill>
                  <a:srgbClr val="E5E9F0"/>
                </a:solidFill>
                <a:latin typeface="Calibri" pitchFamily="34" charset="0"/>
                <a:ea typeface="Calibri" pitchFamily="34" charset="-122"/>
                <a:cs typeface="Calibri" pitchFamily="34" charset="-120"/>
              </a:rPr>
              <a:t>Versions never modified, never overwritten</a:t>
            </a:r>
            <a:endParaRPr lang="en-US" sz="1200" dirty="0"/>
          </a:p>
          <a:p>
            <a:pPr marL="342900" indent="-342900">
              <a:spcAft>
                <a:spcPts val="400"/>
              </a:spcAft>
              <a:buSzPct val="100000"/>
              <a:buChar char="•"/>
            </a:pPr>
            <a:r>
              <a:rPr lang="en-US" sz="1200" dirty="0">
                <a:solidFill>
                  <a:srgbClr val="E5E9F0"/>
                </a:solidFill>
                <a:latin typeface="Calibri" pitchFamily="34" charset="0"/>
                <a:ea typeface="Calibri" pitchFamily="34" charset="-122"/>
                <a:cs typeface="Calibri" pitchFamily="34" charset="-120"/>
              </a:rPr>
              <a:t>Tenant binding selects which standards apply</a:t>
            </a:r>
            <a:endParaRPr lang="en-US" sz="1200" dirty="0"/>
          </a:p>
        </p:txBody>
      </p:sp>
      <p:sp>
        <p:nvSpPr>
          <p:cNvPr id="15" name="Shape 13"/>
          <p:cNvSpPr/>
          <p:nvPr/>
        </p:nvSpPr>
        <p:spPr>
          <a:xfrm>
            <a:off x="8686800" y="2331720"/>
            <a:ext cx="3291840" cy="3566160"/>
          </a:xfrm>
          <a:prstGeom prst="rect">
            <a:avLst/>
          </a:prstGeom>
          <a:solidFill>
            <a:srgbClr val="FFFFFF"/>
          </a:solidFill>
          <a:ln w="9525">
            <a:solidFill>
              <a:srgbClr val="CFD6E1"/>
            </a:solidFill>
            <a:prstDash val="solid"/>
          </a:ln>
        </p:spPr>
      </p:sp>
      <p:sp>
        <p:nvSpPr>
          <p:cNvPr id="16" name="Shape 14"/>
          <p:cNvSpPr/>
          <p:nvPr/>
        </p:nvSpPr>
        <p:spPr>
          <a:xfrm>
            <a:off x="8686800" y="2331720"/>
            <a:ext cx="3291840" cy="91440"/>
          </a:xfrm>
          <a:prstGeom prst="rect">
            <a:avLst/>
          </a:prstGeom>
          <a:solidFill>
            <a:srgbClr val="B8945F"/>
          </a:solidFill>
          <a:ln/>
        </p:spPr>
      </p:sp>
      <p:sp>
        <p:nvSpPr>
          <p:cNvPr id="17" name="Text 15"/>
          <p:cNvSpPr/>
          <p:nvPr/>
        </p:nvSpPr>
        <p:spPr>
          <a:xfrm>
            <a:off x="8915400" y="2560320"/>
            <a:ext cx="2834640" cy="41148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Reporting standards</a:t>
            </a:r>
            <a:endParaRPr lang="en-US" sz="1600" dirty="0"/>
          </a:p>
        </p:txBody>
      </p:sp>
      <p:sp>
        <p:nvSpPr>
          <p:cNvPr id="18" name="Text 16"/>
          <p:cNvSpPr/>
          <p:nvPr/>
        </p:nvSpPr>
        <p:spPr>
          <a:xfrm>
            <a:off x="8915400" y="2971800"/>
            <a:ext cx="2834640" cy="274320"/>
          </a:xfrm>
          <a:prstGeom prst="rect">
            <a:avLst/>
          </a:prstGeom>
          <a:noFill/>
          <a:ln/>
        </p:spPr>
        <p:txBody>
          <a:bodyPr wrap="square" lIns="0" tIns="0" rIns="0" bIns="0" rtlCol="0" anchor="ctr"/>
          <a:lstStyle/>
          <a:p>
            <a:pPr indent="0" marL="0">
              <a:buNone/>
            </a:pPr>
            <a:r>
              <a:rPr lang="en-US" sz="1000" i="1" dirty="0">
                <a:solidFill>
                  <a:srgbClr val="5B6478"/>
                </a:solidFill>
                <a:latin typeface="Calibri" pitchFamily="34" charset="0"/>
                <a:ea typeface="Calibri" pitchFamily="34" charset="-122"/>
                <a:cs typeface="Calibri" pitchFamily="34" charset="-120"/>
              </a:rPr>
              <a:t>every standard bound to the same facts</a:t>
            </a:r>
            <a:endParaRPr lang="en-US" sz="1000" dirty="0"/>
          </a:p>
        </p:txBody>
      </p:sp>
      <p:sp>
        <p:nvSpPr>
          <p:cNvPr id="19" name="Text 17"/>
          <p:cNvSpPr/>
          <p:nvPr/>
        </p:nvSpPr>
        <p:spPr>
          <a:xfrm>
            <a:off x="8915400" y="3383280"/>
            <a:ext cx="2834640" cy="23774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GAAP</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IFRS</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Ind-AS</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Tax (per jurisdiction)</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Management reporting</a:t>
            </a:r>
            <a:endParaRPr lang="en-US" sz="1200" dirty="0"/>
          </a:p>
          <a:p>
            <a:pPr marL="342900" indent="-342900">
              <a:spcAft>
                <a:spcPts val="400"/>
              </a:spcAft>
              <a:buSzPct val="100000"/>
              <a:buChar char="•"/>
            </a:pPr>
            <a:r>
              <a:rPr lang="en-US" sz="1200" dirty="0">
                <a:solidFill>
                  <a:srgbClr val="0F172A"/>
                </a:solidFill>
                <a:latin typeface="Calibri" pitchFamily="34" charset="0"/>
                <a:ea typeface="Calibri" pitchFamily="34" charset="-122"/>
                <a:cs typeface="Calibri" pitchFamily="34" charset="-120"/>
              </a:rPr>
              <a:t>Regulator-specific filings</a:t>
            </a:r>
            <a:endParaRPr lang="en-US" sz="1200" dirty="0"/>
          </a:p>
        </p:txBody>
      </p:sp>
      <p:sp>
        <p:nvSpPr>
          <p:cNvPr id="20" name="Text 18"/>
          <p:cNvSpPr/>
          <p:nvPr/>
        </p:nvSpPr>
        <p:spPr>
          <a:xfrm>
            <a:off x="640080" y="6473952"/>
            <a:ext cx="73152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BareCount  ·  conceptual reference  ·  bc-docs-v3</a:t>
            </a:r>
            <a:endParaRPr lang="en-US" sz="900" dirty="0"/>
          </a:p>
        </p:txBody>
      </p:sp>
      <p:sp>
        <p:nvSpPr>
          <p:cNvPr id="21" name="Text 19"/>
          <p:cNvSpPr/>
          <p:nvPr/>
        </p:nvSpPr>
        <p:spPr>
          <a:xfrm>
            <a:off x="640080" y="6291072"/>
            <a:ext cx="10911535" cy="201168"/>
          </a:xfrm>
          <a:prstGeom prst="rect">
            <a:avLst/>
          </a:prstGeom>
          <a:noFill/>
          <a:ln/>
        </p:spPr>
        <p:txBody>
          <a:bodyPr wrap="square" lIns="0" tIns="0" rIns="0" bIns="0" rtlCol="0" anchor="ctr"/>
          <a:lstStyle/>
          <a:p>
            <a:pPr algn="l" indent="0" marL="0">
              <a:buNone/>
            </a:pPr>
            <a:r>
              <a:rPr lang="en-US" sz="900" i="1" dirty="0">
                <a:solidFill>
                  <a:srgbClr val="8E6F3F"/>
                </a:solidFill>
                <a:latin typeface="Calibri" pitchFamily="34" charset="0"/>
                <a:ea typeface="Calibri" pitchFamily="34" charset="-122"/>
                <a:cs typeface="Calibri" pitchFamily="34" charset="-120"/>
              </a:rPr>
              <a:t>Operating Model. Tenancy and Binding. Multi-standard Onboarding.</a:t>
            </a:r>
            <a:endParaRPr lang="en-US" sz="900" dirty="0"/>
          </a:p>
        </p:txBody>
      </p:sp>
      <p:sp>
        <p:nvSpPr>
          <p:cNvPr id="22" name="Text 20"/>
          <p:cNvSpPr/>
          <p:nvPr/>
        </p:nvSpPr>
        <p:spPr>
          <a:xfrm>
            <a:off x="11277295" y="6473952"/>
            <a:ext cx="2743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640080" y="667512"/>
            <a:ext cx="164592" cy="164592"/>
          </a:xfrm>
          <a:prstGeom prst="rect">
            <a:avLst/>
          </a:prstGeom>
          <a:solidFill>
            <a:srgbClr val="B8945F"/>
          </a:solidFill>
          <a:ln/>
        </p:spPr>
      </p:sp>
      <p:sp>
        <p:nvSpPr>
          <p:cNvPr id="3" name="Text 1"/>
          <p:cNvSpPr/>
          <p:nvPr/>
        </p:nvSpPr>
        <p:spPr>
          <a:xfrm>
            <a:off x="987552" y="502920"/>
            <a:ext cx="10911535"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Georgia" pitchFamily="34" charset="0"/>
                <a:ea typeface="Georgia" pitchFamily="34" charset="-122"/>
                <a:cs typeface="Georgia" pitchFamily="34" charset="-120"/>
              </a:rPr>
              <a:t>What this is not</a:t>
            </a:r>
            <a:endParaRPr lang="en-US" sz="3000" dirty="0"/>
          </a:p>
        </p:txBody>
      </p:sp>
      <p:sp>
        <p:nvSpPr>
          <p:cNvPr id="4" name="Shape 2"/>
          <p:cNvSpPr/>
          <p:nvPr/>
        </p:nvSpPr>
        <p:spPr>
          <a:xfrm>
            <a:off x="640080" y="1508760"/>
            <a:ext cx="5318608" cy="2148840"/>
          </a:xfrm>
          <a:prstGeom prst="rect">
            <a:avLst/>
          </a:prstGeom>
          <a:solidFill>
            <a:srgbClr val="FFFFFF"/>
          </a:solidFill>
          <a:ln w="9525">
            <a:solidFill>
              <a:srgbClr val="CFD6E1"/>
            </a:solidFill>
            <a:prstDash val="solid"/>
          </a:ln>
        </p:spPr>
      </p:sp>
      <p:sp>
        <p:nvSpPr>
          <p:cNvPr id="5" name="Shape 3"/>
          <p:cNvSpPr/>
          <p:nvPr/>
        </p:nvSpPr>
        <p:spPr>
          <a:xfrm>
            <a:off x="640080" y="1508760"/>
            <a:ext cx="73152" cy="2148840"/>
          </a:xfrm>
          <a:prstGeom prst="rect">
            <a:avLst/>
          </a:prstGeom>
          <a:solidFill>
            <a:srgbClr val="B8945F"/>
          </a:solidFill>
          <a:ln/>
        </p:spPr>
      </p:sp>
      <p:sp>
        <p:nvSpPr>
          <p:cNvPr id="6" name="Text 4"/>
          <p:cNvSpPr/>
          <p:nvPr/>
        </p:nvSpPr>
        <p:spPr>
          <a:xfrm>
            <a:off x="914400" y="1737360"/>
            <a:ext cx="4861408" cy="45720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Not ETL</a:t>
            </a:r>
            <a:endParaRPr lang="en-US" sz="1800" dirty="0"/>
          </a:p>
        </p:txBody>
      </p:sp>
      <p:sp>
        <p:nvSpPr>
          <p:cNvPr id="7" name="Text 5"/>
          <p:cNvSpPr/>
          <p:nvPr/>
        </p:nvSpPr>
        <p:spPr>
          <a:xfrm>
            <a:off x="914400" y="2286000"/>
            <a:ext cx="4861408" cy="12344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Authority lives at the evaluation boundary, not in a movement step. The vocabulary of pipelines, stages, and refreshes is not admitted by the platform's grammar.</a:t>
            </a:r>
            <a:endParaRPr lang="en-US" sz="1300" dirty="0"/>
          </a:p>
        </p:txBody>
      </p:sp>
      <p:sp>
        <p:nvSpPr>
          <p:cNvPr id="8" name="Shape 6"/>
          <p:cNvSpPr/>
          <p:nvPr/>
        </p:nvSpPr>
        <p:spPr>
          <a:xfrm>
            <a:off x="6233008" y="1508760"/>
            <a:ext cx="5318608" cy="2148840"/>
          </a:xfrm>
          <a:prstGeom prst="rect">
            <a:avLst/>
          </a:prstGeom>
          <a:solidFill>
            <a:srgbClr val="FFFFFF"/>
          </a:solidFill>
          <a:ln w="9525">
            <a:solidFill>
              <a:srgbClr val="CFD6E1"/>
            </a:solidFill>
            <a:prstDash val="solid"/>
          </a:ln>
        </p:spPr>
      </p:sp>
      <p:sp>
        <p:nvSpPr>
          <p:cNvPr id="9" name="Shape 7"/>
          <p:cNvSpPr/>
          <p:nvPr/>
        </p:nvSpPr>
        <p:spPr>
          <a:xfrm>
            <a:off x="6233008" y="1508760"/>
            <a:ext cx="73152" cy="2148840"/>
          </a:xfrm>
          <a:prstGeom prst="rect">
            <a:avLst/>
          </a:prstGeom>
          <a:solidFill>
            <a:srgbClr val="B8945F"/>
          </a:solidFill>
          <a:ln/>
        </p:spPr>
      </p:sp>
      <p:sp>
        <p:nvSpPr>
          <p:cNvPr id="10" name="Text 8"/>
          <p:cNvSpPr/>
          <p:nvPr/>
        </p:nvSpPr>
        <p:spPr>
          <a:xfrm>
            <a:off x="6507328" y="1737360"/>
            <a:ext cx="4861408" cy="45720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Not BI</a:t>
            </a:r>
            <a:endParaRPr lang="en-US" sz="1800" dirty="0"/>
          </a:p>
        </p:txBody>
      </p:sp>
      <p:sp>
        <p:nvSpPr>
          <p:cNvPr id="11" name="Text 9"/>
          <p:cNvSpPr/>
          <p:nvPr/>
        </p:nvSpPr>
        <p:spPr>
          <a:xfrm>
            <a:off x="6507328" y="2286000"/>
            <a:ext cx="4861408" cy="12344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BI reads. The platform produces authoritative state and emits proof at the producing act. A dashboard placed on top of unobserved facts does not preserve meaning.</a:t>
            </a:r>
            <a:endParaRPr lang="en-US" sz="1300" dirty="0"/>
          </a:p>
        </p:txBody>
      </p:sp>
      <p:sp>
        <p:nvSpPr>
          <p:cNvPr id="12" name="Shape 10"/>
          <p:cNvSpPr/>
          <p:nvPr/>
        </p:nvSpPr>
        <p:spPr>
          <a:xfrm>
            <a:off x="640080" y="3931920"/>
            <a:ext cx="5318608" cy="2148840"/>
          </a:xfrm>
          <a:prstGeom prst="rect">
            <a:avLst/>
          </a:prstGeom>
          <a:solidFill>
            <a:srgbClr val="FFFFFF"/>
          </a:solidFill>
          <a:ln w="9525">
            <a:solidFill>
              <a:srgbClr val="CFD6E1"/>
            </a:solidFill>
            <a:prstDash val="solid"/>
          </a:ln>
        </p:spPr>
      </p:sp>
      <p:sp>
        <p:nvSpPr>
          <p:cNvPr id="13" name="Shape 11"/>
          <p:cNvSpPr/>
          <p:nvPr/>
        </p:nvSpPr>
        <p:spPr>
          <a:xfrm>
            <a:off x="640080" y="3931920"/>
            <a:ext cx="73152" cy="2148840"/>
          </a:xfrm>
          <a:prstGeom prst="rect">
            <a:avLst/>
          </a:prstGeom>
          <a:solidFill>
            <a:srgbClr val="B8945F"/>
          </a:solidFill>
          <a:ln/>
        </p:spPr>
      </p:sp>
      <p:sp>
        <p:nvSpPr>
          <p:cNvPr id="14" name="Text 12"/>
          <p:cNvSpPr/>
          <p:nvPr/>
        </p:nvSpPr>
        <p:spPr>
          <a:xfrm>
            <a:off x="914400" y="4160520"/>
            <a:ext cx="4861408" cy="45720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Not AI on one ERP</a:t>
            </a:r>
            <a:endParaRPr lang="en-US" sz="1800" dirty="0"/>
          </a:p>
        </p:txBody>
      </p:sp>
      <p:sp>
        <p:nvSpPr>
          <p:cNvPr id="15" name="Text 13"/>
          <p:cNvSpPr/>
          <p:nvPr/>
        </p:nvSpPr>
        <p:spPr>
          <a:xfrm>
            <a:off x="914400" y="4709160"/>
            <a:ext cx="4861408" cy="12344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The platform admits sources from every system the enterprise runs. An intelligence layer scoped to one vendor's data graph cannot answer questions that span the enterprise.</a:t>
            </a:r>
            <a:endParaRPr lang="en-US" sz="1300" dirty="0"/>
          </a:p>
        </p:txBody>
      </p:sp>
      <p:sp>
        <p:nvSpPr>
          <p:cNvPr id="16" name="Shape 14"/>
          <p:cNvSpPr/>
          <p:nvPr/>
        </p:nvSpPr>
        <p:spPr>
          <a:xfrm>
            <a:off x="6233008" y="3931920"/>
            <a:ext cx="5318608" cy="2148840"/>
          </a:xfrm>
          <a:prstGeom prst="rect">
            <a:avLst/>
          </a:prstGeom>
          <a:solidFill>
            <a:srgbClr val="FFFFFF"/>
          </a:solidFill>
          <a:ln w="9525">
            <a:solidFill>
              <a:srgbClr val="CFD6E1"/>
            </a:solidFill>
            <a:prstDash val="solid"/>
          </a:ln>
        </p:spPr>
      </p:sp>
      <p:sp>
        <p:nvSpPr>
          <p:cNvPr id="17" name="Shape 15"/>
          <p:cNvSpPr/>
          <p:nvPr/>
        </p:nvSpPr>
        <p:spPr>
          <a:xfrm>
            <a:off x="6233008" y="3931920"/>
            <a:ext cx="73152" cy="2148840"/>
          </a:xfrm>
          <a:prstGeom prst="rect">
            <a:avLst/>
          </a:prstGeom>
          <a:solidFill>
            <a:srgbClr val="B8945F"/>
          </a:solidFill>
          <a:ln/>
        </p:spPr>
      </p:sp>
      <p:sp>
        <p:nvSpPr>
          <p:cNvPr id="18" name="Text 16"/>
          <p:cNvSpPr/>
          <p:nvPr/>
        </p:nvSpPr>
        <p:spPr>
          <a:xfrm>
            <a:off x="6507328" y="4160520"/>
            <a:ext cx="4861408" cy="457200"/>
          </a:xfrm>
          <a:prstGeom prst="rect">
            <a:avLst/>
          </a:prstGeom>
          <a:noFill/>
          <a:ln/>
        </p:spPr>
        <p:txBody>
          <a:bodyPr wrap="square" lIns="0" tIns="0" rIns="0" bIns="0" rtlCol="0" anchor="ctr"/>
          <a:lstStyle/>
          <a:p>
            <a:pPr indent="0" marL="0">
              <a:buNone/>
            </a:pPr>
            <a:r>
              <a:rPr lang="en-US" sz="1800" b="1" dirty="0">
                <a:solidFill>
                  <a:srgbClr val="0F172A"/>
                </a:solidFill>
                <a:latin typeface="Georgia" pitchFamily="34" charset="0"/>
                <a:ea typeface="Georgia" pitchFamily="34" charset="-122"/>
                <a:cs typeface="Georgia" pitchFamily="34" charset="-120"/>
              </a:rPr>
              <a:t>Not procedural governance</a:t>
            </a:r>
            <a:endParaRPr lang="en-US" sz="1800" dirty="0"/>
          </a:p>
        </p:txBody>
      </p:sp>
      <p:sp>
        <p:nvSpPr>
          <p:cNvPr id="19" name="Text 17"/>
          <p:cNvSpPr/>
          <p:nvPr/>
        </p:nvSpPr>
        <p:spPr>
          <a:xfrm>
            <a:off x="6507328" y="4709160"/>
            <a:ext cx="4861408" cy="1234440"/>
          </a:xfrm>
          <a:prstGeom prst="rect">
            <a:avLst/>
          </a:prstGeom>
          <a:noFill/>
          <a:ln/>
        </p:spPr>
        <p:txBody>
          <a:bodyPr wrap="square" lIns="0" tIns="0" rIns="0" bIns="0" rtlCol="0" anchor="t"/>
          <a:lstStyle/>
          <a:p>
            <a:pPr indent="0" marL="0">
              <a:buNone/>
            </a:pPr>
            <a:r>
              <a:rPr lang="en-US" sz="1300" dirty="0">
                <a:solidFill>
                  <a:srgbClr val="0F172A"/>
                </a:solidFill>
                <a:latin typeface="Calibri" pitchFamily="34" charset="0"/>
                <a:ea typeface="Calibri" pitchFamily="34" charset="-122"/>
                <a:cs typeface="Calibri" pitchFamily="34" charset="-120"/>
              </a:rPr>
              <a:t>Correctness is a structural property of the contract grammar. Policies and review gates supplement the grammar; they do not substitute for it.</a:t>
            </a:r>
            <a:endParaRPr lang="en-US" sz="1300" dirty="0"/>
          </a:p>
        </p:txBody>
      </p:sp>
      <p:sp>
        <p:nvSpPr>
          <p:cNvPr id="20" name="Text 18"/>
          <p:cNvSpPr/>
          <p:nvPr/>
        </p:nvSpPr>
        <p:spPr>
          <a:xfrm>
            <a:off x="640080" y="6473952"/>
            <a:ext cx="73152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BareCount  ·  conceptual reference  ·  bc-docs-v3</a:t>
            </a:r>
            <a:endParaRPr lang="en-US" sz="900" dirty="0"/>
          </a:p>
        </p:txBody>
      </p:sp>
      <p:sp>
        <p:nvSpPr>
          <p:cNvPr id="21" name="Text 19"/>
          <p:cNvSpPr/>
          <p:nvPr/>
        </p:nvSpPr>
        <p:spPr>
          <a:xfrm>
            <a:off x="640080" y="6291072"/>
            <a:ext cx="10911535" cy="201168"/>
          </a:xfrm>
          <a:prstGeom prst="rect">
            <a:avLst/>
          </a:prstGeom>
          <a:noFill/>
          <a:ln/>
        </p:spPr>
        <p:txBody>
          <a:bodyPr wrap="square" lIns="0" tIns="0" rIns="0" bIns="0" rtlCol="0" anchor="ctr"/>
          <a:lstStyle/>
          <a:p>
            <a:pPr algn="l" indent="0" marL="0">
              <a:buNone/>
            </a:pPr>
            <a:r>
              <a:rPr lang="en-US" sz="900" i="1" dirty="0">
                <a:solidFill>
                  <a:srgbClr val="8E6F3F"/>
                </a:solidFill>
                <a:latin typeface="Calibri" pitchFamily="34" charset="0"/>
                <a:ea typeface="Calibri" pitchFamily="34" charset="-122"/>
                <a:cs typeface="Calibri" pitchFamily="34" charset="-120"/>
              </a:rPr>
              <a:t>Platform Overview. Foundation.</a:t>
            </a:r>
            <a:endParaRPr lang="en-US" sz="900" dirty="0"/>
          </a:p>
        </p:txBody>
      </p:sp>
      <p:sp>
        <p:nvSpPr>
          <p:cNvPr id="22" name="Text 20"/>
          <p:cNvSpPr/>
          <p:nvPr/>
        </p:nvSpPr>
        <p:spPr>
          <a:xfrm>
            <a:off x="11277295" y="6473952"/>
            <a:ext cx="2743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640080" y="667512"/>
            <a:ext cx="164592" cy="164592"/>
          </a:xfrm>
          <a:prstGeom prst="rect">
            <a:avLst/>
          </a:prstGeom>
          <a:solidFill>
            <a:srgbClr val="B8945F"/>
          </a:solidFill>
          <a:ln/>
        </p:spPr>
      </p:sp>
      <p:sp>
        <p:nvSpPr>
          <p:cNvPr id="3" name="Text 1"/>
          <p:cNvSpPr/>
          <p:nvPr/>
        </p:nvSpPr>
        <p:spPr>
          <a:xfrm>
            <a:off x="987552" y="502920"/>
            <a:ext cx="10911535"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Georgia" pitchFamily="34" charset="0"/>
                <a:ea typeface="Georgia" pitchFamily="34" charset="-122"/>
                <a:cs typeface="Georgia" pitchFamily="34" charset="-120"/>
              </a:rPr>
              <a:t>Governance posture</a:t>
            </a:r>
            <a:endParaRPr lang="en-US" sz="3000" dirty="0"/>
          </a:p>
        </p:txBody>
      </p:sp>
      <p:sp>
        <p:nvSpPr>
          <p:cNvPr id="4" name="Text 2"/>
          <p:cNvSpPr/>
          <p:nvPr/>
        </p:nvSpPr>
        <p:spPr>
          <a:xfrm>
            <a:off x="640080" y="1280160"/>
            <a:ext cx="10911535" cy="41148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Discipline preserved as artifacts, not as practice. Every architectural decision recorded before code lands.</a:t>
            </a:r>
            <a:endParaRPr lang="en-US" sz="1300" dirty="0"/>
          </a:p>
        </p:txBody>
      </p:sp>
      <p:sp>
        <p:nvSpPr>
          <p:cNvPr id="5" name="Shape 3"/>
          <p:cNvSpPr/>
          <p:nvPr/>
        </p:nvSpPr>
        <p:spPr>
          <a:xfrm>
            <a:off x="640080" y="1920240"/>
            <a:ext cx="5318608" cy="1920240"/>
          </a:xfrm>
          <a:prstGeom prst="rect">
            <a:avLst/>
          </a:prstGeom>
          <a:solidFill>
            <a:srgbClr val="F2F4F8"/>
          </a:solidFill>
          <a:ln w="9525">
            <a:solidFill>
              <a:srgbClr val="CFD6E1"/>
            </a:solidFill>
            <a:prstDash val="solid"/>
          </a:ln>
        </p:spPr>
      </p:sp>
      <p:sp>
        <p:nvSpPr>
          <p:cNvPr id="6" name="Shape 4"/>
          <p:cNvSpPr/>
          <p:nvPr/>
        </p:nvSpPr>
        <p:spPr>
          <a:xfrm>
            <a:off x="640080" y="1920240"/>
            <a:ext cx="164592" cy="164592"/>
          </a:xfrm>
          <a:prstGeom prst="rect">
            <a:avLst/>
          </a:prstGeom>
          <a:solidFill>
            <a:srgbClr val="B8945F"/>
          </a:solidFill>
          <a:ln/>
        </p:spPr>
      </p:sp>
      <p:sp>
        <p:nvSpPr>
          <p:cNvPr id="7" name="Text 5"/>
          <p:cNvSpPr/>
          <p:nvPr/>
        </p:nvSpPr>
        <p:spPr>
          <a:xfrm>
            <a:off x="914400" y="2286000"/>
            <a:ext cx="4861408" cy="45720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Patent-backed execution model</a:t>
            </a:r>
            <a:endParaRPr lang="en-US" sz="1600" dirty="0"/>
          </a:p>
        </p:txBody>
      </p:sp>
      <p:sp>
        <p:nvSpPr>
          <p:cNvPr id="8" name="Text 6"/>
          <p:cNvSpPr/>
          <p:nvPr/>
        </p:nvSpPr>
        <p:spPr>
          <a:xfrm>
            <a:off x="914400" y="2788920"/>
            <a:ext cx="4861408" cy="91440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The four boundaries, the six objects, and the contract grammar are recorded as a granted invention.</a:t>
            </a:r>
            <a:endParaRPr lang="en-US" sz="1200" dirty="0"/>
          </a:p>
        </p:txBody>
      </p:sp>
      <p:sp>
        <p:nvSpPr>
          <p:cNvPr id="9" name="Shape 7"/>
          <p:cNvSpPr/>
          <p:nvPr/>
        </p:nvSpPr>
        <p:spPr>
          <a:xfrm>
            <a:off x="6233008" y="1920240"/>
            <a:ext cx="5318608" cy="1920240"/>
          </a:xfrm>
          <a:prstGeom prst="rect">
            <a:avLst/>
          </a:prstGeom>
          <a:solidFill>
            <a:srgbClr val="F2F4F8"/>
          </a:solidFill>
          <a:ln w="9525">
            <a:solidFill>
              <a:srgbClr val="CFD6E1"/>
            </a:solidFill>
            <a:prstDash val="solid"/>
          </a:ln>
        </p:spPr>
      </p:sp>
      <p:sp>
        <p:nvSpPr>
          <p:cNvPr id="10" name="Shape 8"/>
          <p:cNvSpPr/>
          <p:nvPr/>
        </p:nvSpPr>
        <p:spPr>
          <a:xfrm>
            <a:off x="6233008" y="1920240"/>
            <a:ext cx="164592" cy="164592"/>
          </a:xfrm>
          <a:prstGeom prst="rect">
            <a:avLst/>
          </a:prstGeom>
          <a:solidFill>
            <a:srgbClr val="B8945F"/>
          </a:solidFill>
          <a:ln/>
        </p:spPr>
      </p:sp>
      <p:sp>
        <p:nvSpPr>
          <p:cNvPr id="11" name="Text 9"/>
          <p:cNvSpPr/>
          <p:nvPr/>
        </p:nvSpPr>
        <p:spPr>
          <a:xfrm>
            <a:off x="6507328" y="2286000"/>
            <a:ext cx="4861408" cy="45720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Immutable evidence chain</a:t>
            </a:r>
            <a:endParaRPr lang="en-US" sz="1600" dirty="0"/>
          </a:p>
        </p:txBody>
      </p:sp>
      <p:sp>
        <p:nvSpPr>
          <p:cNvPr id="12" name="Text 10"/>
          <p:cNvSpPr/>
          <p:nvPr/>
        </p:nvSpPr>
        <p:spPr>
          <a:xfrm>
            <a:off x="6507328" y="2788920"/>
            <a:ext cx="4861408" cy="91440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Evidence and Lineage are append-only. Authoritative state is never altered in place. Corrections create new versions.</a:t>
            </a:r>
            <a:endParaRPr lang="en-US" sz="1200" dirty="0"/>
          </a:p>
        </p:txBody>
      </p:sp>
      <p:sp>
        <p:nvSpPr>
          <p:cNvPr id="13" name="Shape 11"/>
          <p:cNvSpPr/>
          <p:nvPr/>
        </p:nvSpPr>
        <p:spPr>
          <a:xfrm>
            <a:off x="640080" y="4114800"/>
            <a:ext cx="5318608" cy="1920240"/>
          </a:xfrm>
          <a:prstGeom prst="rect">
            <a:avLst/>
          </a:prstGeom>
          <a:solidFill>
            <a:srgbClr val="F2F4F8"/>
          </a:solidFill>
          <a:ln w="9525">
            <a:solidFill>
              <a:srgbClr val="CFD6E1"/>
            </a:solidFill>
            <a:prstDash val="solid"/>
          </a:ln>
        </p:spPr>
      </p:sp>
      <p:sp>
        <p:nvSpPr>
          <p:cNvPr id="14" name="Shape 12"/>
          <p:cNvSpPr/>
          <p:nvPr/>
        </p:nvSpPr>
        <p:spPr>
          <a:xfrm>
            <a:off x="640080" y="4114800"/>
            <a:ext cx="164592" cy="164592"/>
          </a:xfrm>
          <a:prstGeom prst="rect">
            <a:avLst/>
          </a:prstGeom>
          <a:solidFill>
            <a:srgbClr val="B8945F"/>
          </a:solidFill>
          <a:ln/>
        </p:spPr>
      </p:sp>
      <p:sp>
        <p:nvSpPr>
          <p:cNvPr id="15" name="Text 13"/>
          <p:cNvSpPr/>
          <p:nvPr/>
        </p:nvSpPr>
        <p:spPr>
          <a:xfrm>
            <a:off x="914400" y="4480560"/>
            <a:ext cx="4861408" cy="45720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ISO 27001 and SOC 2 posture</a:t>
            </a:r>
            <a:endParaRPr lang="en-US" sz="1600" dirty="0"/>
          </a:p>
        </p:txBody>
      </p:sp>
      <p:sp>
        <p:nvSpPr>
          <p:cNvPr id="16" name="Text 14"/>
          <p:cNvSpPr/>
          <p:nvPr/>
        </p:nvSpPr>
        <p:spPr>
          <a:xfrm>
            <a:off x="914400" y="4983480"/>
            <a:ext cx="4861408" cy="91440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Conformance documented in the Compliance section. Controls map to preserved state, not to participant attestation.</a:t>
            </a:r>
            <a:endParaRPr lang="en-US" sz="1200" dirty="0"/>
          </a:p>
        </p:txBody>
      </p:sp>
      <p:sp>
        <p:nvSpPr>
          <p:cNvPr id="17" name="Shape 15"/>
          <p:cNvSpPr/>
          <p:nvPr/>
        </p:nvSpPr>
        <p:spPr>
          <a:xfrm>
            <a:off x="6233008" y="4114800"/>
            <a:ext cx="5318608" cy="1920240"/>
          </a:xfrm>
          <a:prstGeom prst="rect">
            <a:avLst/>
          </a:prstGeom>
          <a:solidFill>
            <a:srgbClr val="F2F4F8"/>
          </a:solidFill>
          <a:ln w="9525">
            <a:solidFill>
              <a:srgbClr val="CFD6E1"/>
            </a:solidFill>
            <a:prstDash val="solid"/>
          </a:ln>
        </p:spPr>
      </p:sp>
      <p:sp>
        <p:nvSpPr>
          <p:cNvPr id="18" name="Shape 16"/>
          <p:cNvSpPr/>
          <p:nvPr/>
        </p:nvSpPr>
        <p:spPr>
          <a:xfrm>
            <a:off x="6233008" y="4114800"/>
            <a:ext cx="164592" cy="164592"/>
          </a:xfrm>
          <a:prstGeom prst="rect">
            <a:avLst/>
          </a:prstGeom>
          <a:solidFill>
            <a:srgbClr val="B8945F"/>
          </a:solidFill>
          <a:ln/>
        </p:spPr>
      </p:sp>
      <p:sp>
        <p:nvSpPr>
          <p:cNvPr id="19" name="Text 17"/>
          <p:cNvSpPr/>
          <p:nvPr/>
        </p:nvSpPr>
        <p:spPr>
          <a:xfrm>
            <a:off x="6507328" y="4480560"/>
            <a:ext cx="4861408" cy="457200"/>
          </a:xfrm>
          <a:prstGeom prst="rect">
            <a:avLst/>
          </a:prstGeom>
          <a:noFill/>
          <a:ln/>
        </p:spPr>
        <p:txBody>
          <a:bodyPr wrap="square" lIns="0" tIns="0" rIns="0" bIns="0" rtlCol="0" anchor="ctr"/>
          <a:lstStyle/>
          <a:p>
            <a:pPr indent="0" marL="0">
              <a:buNone/>
            </a:pPr>
            <a:r>
              <a:rPr lang="en-US" sz="1600" b="1" dirty="0">
                <a:solidFill>
                  <a:srgbClr val="0F172A"/>
                </a:solidFill>
                <a:latin typeface="Georgia" pitchFamily="34" charset="0"/>
                <a:ea typeface="Georgia" pitchFamily="34" charset="-122"/>
                <a:cs typeface="Georgia" pitchFamily="34" charset="-120"/>
              </a:rPr>
              <a:t>ADR-first decision discipline</a:t>
            </a:r>
            <a:endParaRPr lang="en-US" sz="1600" dirty="0"/>
          </a:p>
        </p:txBody>
      </p:sp>
      <p:sp>
        <p:nvSpPr>
          <p:cNvPr id="20" name="Text 18"/>
          <p:cNvSpPr/>
          <p:nvPr/>
        </p:nvSpPr>
        <p:spPr>
          <a:xfrm>
            <a:off x="6507328" y="4983480"/>
            <a:ext cx="4861408" cy="914400"/>
          </a:xfrm>
          <a:prstGeom prst="rect">
            <a:avLst/>
          </a:prstGeom>
          <a:noFill/>
          <a:ln/>
        </p:spPr>
        <p:txBody>
          <a:bodyPr wrap="square" lIns="0" tIns="0" rIns="0" bIns="0" rtlCol="0" anchor="t"/>
          <a:lstStyle/>
          <a:p>
            <a:pPr indent="0" marL="0">
              <a:buNone/>
            </a:pPr>
            <a:r>
              <a:rPr lang="en-US" sz="1200" dirty="0">
                <a:solidFill>
                  <a:srgbClr val="0F172A"/>
                </a:solidFill>
                <a:latin typeface="Calibri" pitchFamily="34" charset="0"/>
                <a:ea typeface="Calibri" pitchFamily="34" charset="-122"/>
                <a:cs typeface="Calibri" pitchFamily="34" charset="-120"/>
              </a:rPr>
              <a:t>Every architectural decision recorded as an authoritative artifact under the Decisions peer. The ADR file is the source of truth.</a:t>
            </a:r>
            <a:endParaRPr lang="en-US" sz="1200" dirty="0"/>
          </a:p>
        </p:txBody>
      </p:sp>
      <p:sp>
        <p:nvSpPr>
          <p:cNvPr id="21" name="Text 19"/>
          <p:cNvSpPr/>
          <p:nvPr/>
        </p:nvSpPr>
        <p:spPr>
          <a:xfrm>
            <a:off x="640080" y="6473952"/>
            <a:ext cx="73152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BareCount  ·  conceptual reference  ·  bc-docs-v3</a:t>
            </a:r>
            <a:endParaRPr lang="en-US" sz="900" dirty="0"/>
          </a:p>
        </p:txBody>
      </p:sp>
      <p:sp>
        <p:nvSpPr>
          <p:cNvPr id="22" name="Text 20"/>
          <p:cNvSpPr/>
          <p:nvPr/>
        </p:nvSpPr>
        <p:spPr>
          <a:xfrm>
            <a:off x="640080" y="6291072"/>
            <a:ext cx="10911535" cy="201168"/>
          </a:xfrm>
          <a:prstGeom prst="rect">
            <a:avLst/>
          </a:prstGeom>
          <a:noFill/>
          <a:ln/>
        </p:spPr>
        <p:txBody>
          <a:bodyPr wrap="square" lIns="0" tIns="0" rIns="0" bIns="0" rtlCol="0" anchor="ctr"/>
          <a:lstStyle/>
          <a:p>
            <a:pPr algn="l" indent="0" marL="0">
              <a:buNone/>
            </a:pPr>
            <a:r>
              <a:rPr lang="en-US" sz="900" i="1" dirty="0">
                <a:solidFill>
                  <a:srgbClr val="8E6F3F"/>
                </a:solidFill>
                <a:latin typeface="Calibri" pitchFamily="34" charset="0"/>
                <a:ea typeface="Calibri" pitchFamily="34" charset="-122"/>
                <a:cs typeface="Calibri" pitchFamily="34" charset="-120"/>
              </a:rPr>
              <a:t>Compliance. Development. Decision and Change Procedure.</a:t>
            </a:r>
            <a:endParaRPr lang="en-US" sz="900" dirty="0"/>
          </a:p>
        </p:txBody>
      </p:sp>
      <p:sp>
        <p:nvSpPr>
          <p:cNvPr id="23" name="Text 21"/>
          <p:cNvSpPr/>
          <p:nvPr/>
        </p:nvSpPr>
        <p:spPr>
          <a:xfrm>
            <a:off x="11277295" y="6473952"/>
            <a:ext cx="2743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640080" y="667512"/>
            <a:ext cx="164592" cy="164592"/>
          </a:xfrm>
          <a:prstGeom prst="rect">
            <a:avLst/>
          </a:prstGeom>
          <a:solidFill>
            <a:srgbClr val="B8945F"/>
          </a:solidFill>
          <a:ln/>
        </p:spPr>
      </p:sp>
      <p:sp>
        <p:nvSpPr>
          <p:cNvPr id="3" name="Text 1"/>
          <p:cNvSpPr/>
          <p:nvPr/>
        </p:nvSpPr>
        <p:spPr>
          <a:xfrm>
            <a:off x="987552" y="502920"/>
            <a:ext cx="10911535"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Georgia" pitchFamily="34" charset="0"/>
                <a:ea typeface="Georgia" pitchFamily="34" charset="-122"/>
                <a:cs typeface="Georgia" pitchFamily="34" charset="-120"/>
              </a:rPr>
              <a:t>Where BareCount sits</a:t>
            </a:r>
            <a:endParaRPr lang="en-US" sz="3000" dirty="0"/>
          </a:p>
        </p:txBody>
      </p:sp>
      <p:sp>
        <p:nvSpPr>
          <p:cNvPr id="4" name="Text 2"/>
          <p:cNvSpPr/>
          <p:nvPr/>
        </p:nvSpPr>
        <p:spPr>
          <a:xfrm>
            <a:off x="640080" y="1280160"/>
            <a:ext cx="10911535" cy="640080"/>
          </a:xfrm>
          <a:prstGeom prst="rect">
            <a:avLst/>
          </a:prstGeom>
          <a:noFill/>
          <a:ln/>
        </p:spPr>
        <p:txBody>
          <a:bodyPr wrap="square" lIns="0" tIns="0" rIns="0" bIns="0" rtlCol="0" anchor="ctr"/>
          <a:lstStyle/>
          <a:p>
            <a:pPr indent="0" marL="0">
              <a:buNone/>
            </a:pPr>
            <a:r>
              <a:rPr lang="en-US" sz="1300" i="1" dirty="0">
                <a:solidFill>
                  <a:srgbClr val="5B6478"/>
                </a:solidFill>
                <a:latin typeface="Calibri" pitchFamily="34" charset="0"/>
                <a:ea typeface="Calibri" pitchFamily="34" charset="-122"/>
                <a:cs typeface="Calibri" pitchFamily="34" charset="-120"/>
              </a:rPr>
              <a:t>Between every source the enterprise runs and every standard the enterprise reports under. The layer the enterprise cannot replace with a single-vendor SKU.</a:t>
            </a:r>
            <a:endParaRPr lang="en-US" sz="1300" dirty="0"/>
          </a:p>
        </p:txBody>
      </p:sp>
      <p:sp>
        <p:nvSpPr>
          <p:cNvPr id="5" name="Shape 3"/>
          <p:cNvSpPr/>
          <p:nvPr/>
        </p:nvSpPr>
        <p:spPr>
          <a:xfrm>
            <a:off x="640080" y="2331720"/>
            <a:ext cx="10911535" cy="1051560"/>
          </a:xfrm>
          <a:prstGeom prst="rect">
            <a:avLst/>
          </a:prstGeom>
          <a:solidFill>
            <a:srgbClr val="FFFFFF"/>
          </a:solidFill>
          <a:ln w="9525">
            <a:solidFill>
              <a:srgbClr val="CFD6E1"/>
            </a:solidFill>
            <a:prstDash val="solid"/>
          </a:ln>
        </p:spPr>
      </p:sp>
      <p:sp>
        <p:nvSpPr>
          <p:cNvPr id="6" name="Shape 4"/>
          <p:cNvSpPr/>
          <p:nvPr/>
        </p:nvSpPr>
        <p:spPr>
          <a:xfrm>
            <a:off x="640080" y="2331720"/>
            <a:ext cx="73152" cy="1051560"/>
          </a:xfrm>
          <a:prstGeom prst="rect">
            <a:avLst/>
          </a:prstGeom>
          <a:solidFill>
            <a:srgbClr val="B8945F"/>
          </a:solidFill>
          <a:ln/>
        </p:spPr>
      </p:sp>
      <p:sp>
        <p:nvSpPr>
          <p:cNvPr id="7" name="Text 5"/>
          <p:cNvSpPr/>
          <p:nvPr/>
        </p:nvSpPr>
        <p:spPr>
          <a:xfrm>
            <a:off x="868680" y="2514600"/>
            <a:ext cx="502920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Every source the enterprise runs</a:t>
            </a:r>
            <a:endParaRPr lang="en-US" sz="1700" dirty="0"/>
          </a:p>
        </p:txBody>
      </p:sp>
      <p:sp>
        <p:nvSpPr>
          <p:cNvPr id="8" name="Text 6"/>
          <p:cNvSpPr/>
          <p:nvPr/>
        </p:nvSpPr>
        <p:spPr>
          <a:xfrm>
            <a:off x="868680" y="2926080"/>
            <a:ext cx="10362895"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ERPs, payroll, billing, treasury, subsidiary ledgers, spreadsheets, exports.</a:t>
            </a:r>
            <a:endParaRPr lang="en-US" sz="1200" dirty="0"/>
          </a:p>
        </p:txBody>
      </p:sp>
      <p:sp>
        <p:nvSpPr>
          <p:cNvPr id="9" name="Text 7"/>
          <p:cNvSpPr/>
          <p:nvPr/>
        </p:nvSpPr>
        <p:spPr>
          <a:xfrm>
            <a:off x="5867248" y="3401568"/>
            <a:ext cx="457200" cy="201168"/>
          </a:xfrm>
          <a:prstGeom prst="rect">
            <a:avLst/>
          </a:prstGeom>
          <a:noFill/>
          <a:ln/>
        </p:spPr>
        <p:txBody>
          <a:bodyPr wrap="square" lIns="0" tIns="0" rIns="0" bIns="0" rtlCol="0" anchor="ctr"/>
          <a:lstStyle/>
          <a:p>
            <a:pPr algn="ctr" indent="0" marL="0">
              <a:buNone/>
            </a:pPr>
            <a:r>
              <a:rPr lang="en-US" sz="1800" b="1" dirty="0">
                <a:solidFill>
                  <a:srgbClr val="B8945F"/>
                </a:solidFill>
                <a:latin typeface="Georgia" pitchFamily="34" charset="0"/>
                <a:ea typeface="Georgia" pitchFamily="34" charset="-122"/>
                <a:cs typeface="Georgia" pitchFamily="34" charset="-120"/>
              </a:rPr>
              <a:t>↓</a:t>
            </a:r>
            <a:endParaRPr lang="en-US" sz="1800" dirty="0"/>
          </a:p>
        </p:txBody>
      </p:sp>
      <p:sp>
        <p:nvSpPr>
          <p:cNvPr id="10" name="Shape 8"/>
          <p:cNvSpPr/>
          <p:nvPr/>
        </p:nvSpPr>
        <p:spPr>
          <a:xfrm>
            <a:off x="640080" y="3611880"/>
            <a:ext cx="10911535" cy="1234440"/>
          </a:xfrm>
          <a:prstGeom prst="rect">
            <a:avLst/>
          </a:prstGeom>
          <a:solidFill>
            <a:srgbClr val="0F172A"/>
          </a:solidFill>
          <a:ln/>
        </p:spPr>
      </p:sp>
      <p:sp>
        <p:nvSpPr>
          <p:cNvPr id="11" name="Shape 9"/>
          <p:cNvSpPr/>
          <p:nvPr/>
        </p:nvSpPr>
        <p:spPr>
          <a:xfrm>
            <a:off x="640080" y="3611880"/>
            <a:ext cx="73152" cy="1234440"/>
          </a:xfrm>
          <a:prstGeom prst="rect">
            <a:avLst/>
          </a:prstGeom>
          <a:solidFill>
            <a:srgbClr val="B8945F"/>
          </a:solidFill>
          <a:ln/>
        </p:spPr>
      </p:sp>
      <p:sp>
        <p:nvSpPr>
          <p:cNvPr id="12" name="Text 10"/>
          <p:cNvSpPr/>
          <p:nvPr/>
        </p:nvSpPr>
        <p:spPr>
          <a:xfrm>
            <a:off x="868680" y="3794760"/>
            <a:ext cx="3657600" cy="457200"/>
          </a:xfrm>
          <a:prstGeom prst="rect">
            <a:avLst/>
          </a:prstGeom>
          <a:noFill/>
          <a:ln/>
        </p:spPr>
        <p:txBody>
          <a:bodyPr wrap="square" lIns="0" tIns="0" rIns="0" bIns="0" rtlCol="0" anchor="ctr"/>
          <a:lstStyle/>
          <a:p>
            <a:pPr indent="0" marL="0">
              <a:buNone/>
            </a:pPr>
            <a:r>
              <a:rPr lang="en-US" sz="2000" b="1" dirty="0">
                <a:solidFill>
                  <a:srgbClr val="B8945F"/>
                </a:solidFill>
                <a:latin typeface="Georgia" pitchFamily="34" charset="0"/>
                <a:ea typeface="Georgia" pitchFamily="34" charset="-122"/>
                <a:cs typeface="Georgia" pitchFamily="34" charset="-120"/>
              </a:rPr>
              <a:t>BareCount</a:t>
            </a:r>
            <a:endParaRPr lang="en-US" sz="2000" dirty="0"/>
          </a:p>
        </p:txBody>
      </p:sp>
      <p:sp>
        <p:nvSpPr>
          <p:cNvPr id="13" name="Text 11"/>
          <p:cNvSpPr/>
          <p:nvPr/>
        </p:nvSpPr>
        <p:spPr>
          <a:xfrm>
            <a:off x="868680" y="4251960"/>
            <a:ext cx="10362895" cy="457200"/>
          </a:xfrm>
          <a:prstGeom prst="rect">
            <a:avLst/>
          </a:prstGeom>
          <a:noFill/>
          <a:ln/>
        </p:spPr>
        <p:txBody>
          <a:bodyPr wrap="square" lIns="0" tIns="0" rIns="0" bIns="0" rtlCol="0" anchor="ctr"/>
          <a:lstStyle/>
          <a:p>
            <a:pPr indent="0" marL="0">
              <a:buNone/>
            </a:pPr>
            <a:r>
              <a:rPr lang="en-US" sz="1300" dirty="0">
                <a:solidFill>
                  <a:srgbClr val="E5E9F0"/>
                </a:solidFill>
                <a:latin typeface="Calibri" pitchFamily="34" charset="0"/>
                <a:ea typeface="Calibri" pitchFamily="34" charset="-122"/>
                <a:cs typeface="Calibri" pitchFamily="34" charset="-120"/>
              </a:rPr>
              <a:t>Canonical evaluation. Governed contracts. Immutable Evidence and Lineage.</a:t>
            </a:r>
            <a:endParaRPr lang="en-US" sz="1300" dirty="0"/>
          </a:p>
        </p:txBody>
      </p:sp>
      <p:sp>
        <p:nvSpPr>
          <p:cNvPr id="14" name="Text 12"/>
          <p:cNvSpPr/>
          <p:nvPr/>
        </p:nvSpPr>
        <p:spPr>
          <a:xfrm>
            <a:off x="5867248" y="4882896"/>
            <a:ext cx="457200" cy="201168"/>
          </a:xfrm>
          <a:prstGeom prst="rect">
            <a:avLst/>
          </a:prstGeom>
          <a:noFill/>
          <a:ln/>
        </p:spPr>
        <p:txBody>
          <a:bodyPr wrap="square" lIns="0" tIns="0" rIns="0" bIns="0" rtlCol="0" anchor="ctr"/>
          <a:lstStyle/>
          <a:p>
            <a:pPr algn="ctr" indent="0" marL="0">
              <a:buNone/>
            </a:pPr>
            <a:r>
              <a:rPr lang="en-US" sz="1800" b="1" dirty="0">
                <a:solidFill>
                  <a:srgbClr val="B8945F"/>
                </a:solidFill>
                <a:latin typeface="Georgia" pitchFamily="34" charset="0"/>
                <a:ea typeface="Georgia" pitchFamily="34" charset="-122"/>
                <a:cs typeface="Georgia" pitchFamily="34" charset="-120"/>
              </a:rPr>
              <a:t>↓</a:t>
            </a:r>
            <a:endParaRPr lang="en-US" sz="1800" dirty="0"/>
          </a:p>
        </p:txBody>
      </p:sp>
      <p:sp>
        <p:nvSpPr>
          <p:cNvPr id="15" name="Shape 13"/>
          <p:cNvSpPr/>
          <p:nvPr/>
        </p:nvSpPr>
        <p:spPr>
          <a:xfrm>
            <a:off x="640080" y="5074920"/>
            <a:ext cx="10911535" cy="1051560"/>
          </a:xfrm>
          <a:prstGeom prst="rect">
            <a:avLst/>
          </a:prstGeom>
          <a:solidFill>
            <a:srgbClr val="FFFFFF"/>
          </a:solidFill>
          <a:ln w="9525">
            <a:solidFill>
              <a:srgbClr val="CFD6E1"/>
            </a:solidFill>
            <a:prstDash val="solid"/>
          </a:ln>
        </p:spPr>
      </p:sp>
      <p:sp>
        <p:nvSpPr>
          <p:cNvPr id="16" name="Shape 14"/>
          <p:cNvSpPr/>
          <p:nvPr/>
        </p:nvSpPr>
        <p:spPr>
          <a:xfrm>
            <a:off x="640080" y="5074920"/>
            <a:ext cx="73152" cy="1051560"/>
          </a:xfrm>
          <a:prstGeom prst="rect">
            <a:avLst/>
          </a:prstGeom>
          <a:solidFill>
            <a:srgbClr val="B8945F"/>
          </a:solidFill>
          <a:ln/>
        </p:spPr>
      </p:sp>
      <p:sp>
        <p:nvSpPr>
          <p:cNvPr id="17" name="Text 15"/>
          <p:cNvSpPr/>
          <p:nvPr/>
        </p:nvSpPr>
        <p:spPr>
          <a:xfrm>
            <a:off x="868680" y="5257800"/>
            <a:ext cx="6858000" cy="411480"/>
          </a:xfrm>
          <a:prstGeom prst="rect">
            <a:avLst/>
          </a:prstGeom>
          <a:noFill/>
          <a:ln/>
        </p:spPr>
        <p:txBody>
          <a:bodyPr wrap="square" lIns="0" tIns="0" rIns="0" bIns="0" rtlCol="0" anchor="ctr"/>
          <a:lstStyle/>
          <a:p>
            <a:pPr indent="0" marL="0">
              <a:buNone/>
            </a:pPr>
            <a:r>
              <a:rPr lang="en-US" sz="1700" b="1" dirty="0">
                <a:solidFill>
                  <a:srgbClr val="0F172A"/>
                </a:solidFill>
                <a:latin typeface="Georgia" pitchFamily="34" charset="0"/>
                <a:ea typeface="Georgia" pitchFamily="34" charset="-122"/>
                <a:cs typeface="Georgia" pitchFamily="34" charset="-120"/>
              </a:rPr>
              <a:t>Every standard the enterprise reports under</a:t>
            </a:r>
            <a:endParaRPr lang="en-US" sz="1700" dirty="0"/>
          </a:p>
        </p:txBody>
      </p:sp>
      <p:sp>
        <p:nvSpPr>
          <p:cNvPr id="18" name="Text 16"/>
          <p:cNvSpPr/>
          <p:nvPr/>
        </p:nvSpPr>
        <p:spPr>
          <a:xfrm>
            <a:off x="868680" y="5669280"/>
            <a:ext cx="10362895" cy="36576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GAAP, IFRS, Ind-AS, tax (per jurisdiction), management, regulator filings.</a:t>
            </a:r>
            <a:endParaRPr lang="en-US" sz="1200" dirty="0"/>
          </a:p>
        </p:txBody>
      </p:sp>
      <p:sp>
        <p:nvSpPr>
          <p:cNvPr id="19" name="Text 17"/>
          <p:cNvSpPr/>
          <p:nvPr/>
        </p:nvSpPr>
        <p:spPr>
          <a:xfrm>
            <a:off x="640080" y="6473952"/>
            <a:ext cx="7315200" cy="274320"/>
          </a:xfrm>
          <a:prstGeom prst="rect">
            <a:avLst/>
          </a:prstGeom>
          <a:noFill/>
          <a:ln/>
        </p:spPr>
        <p:txBody>
          <a:bodyPr wrap="square" lIns="0" tIns="0" rIns="0" bIns="0" rtlCol="0" anchor="ctr"/>
          <a:lstStyle/>
          <a:p>
            <a:pPr algn="l" indent="0" marL="0">
              <a:buNone/>
            </a:pPr>
            <a:r>
              <a:rPr lang="en-US" sz="900" dirty="0">
                <a:solidFill>
                  <a:srgbClr val="5B6478"/>
                </a:solidFill>
                <a:latin typeface="Calibri" pitchFamily="34" charset="0"/>
                <a:ea typeface="Calibri" pitchFamily="34" charset="-122"/>
                <a:cs typeface="Calibri" pitchFamily="34" charset="-120"/>
              </a:rPr>
              <a:t>BareCount  ·  conceptual reference  ·  bc-docs-v3</a:t>
            </a:r>
            <a:endParaRPr lang="en-US" sz="900" dirty="0"/>
          </a:p>
        </p:txBody>
      </p:sp>
      <p:sp>
        <p:nvSpPr>
          <p:cNvPr id="20" name="Text 18"/>
          <p:cNvSpPr/>
          <p:nvPr/>
        </p:nvSpPr>
        <p:spPr>
          <a:xfrm>
            <a:off x="640080" y="6291072"/>
            <a:ext cx="10911535" cy="201168"/>
          </a:xfrm>
          <a:prstGeom prst="rect">
            <a:avLst/>
          </a:prstGeom>
          <a:noFill/>
          <a:ln/>
        </p:spPr>
        <p:txBody>
          <a:bodyPr wrap="square" lIns="0" tIns="0" rIns="0" bIns="0" rtlCol="0" anchor="ctr"/>
          <a:lstStyle/>
          <a:p>
            <a:pPr algn="l" indent="0" marL="0">
              <a:buNone/>
            </a:pPr>
            <a:r>
              <a:rPr lang="en-US" sz="900" i="1" dirty="0">
                <a:solidFill>
                  <a:srgbClr val="8E6F3F"/>
                </a:solidFill>
                <a:latin typeface="Calibri" pitchFamily="34" charset="0"/>
                <a:ea typeface="Calibri" pitchFamily="34" charset="-122"/>
                <a:cs typeface="Calibri" pitchFamily="34" charset="-120"/>
              </a:rPr>
              <a:t>Platform Overview. Operating Model.</a:t>
            </a:r>
            <a:endParaRPr lang="en-US" sz="900" dirty="0"/>
          </a:p>
        </p:txBody>
      </p:sp>
      <p:sp>
        <p:nvSpPr>
          <p:cNvPr id="21" name="Text 19"/>
          <p:cNvSpPr/>
          <p:nvPr/>
        </p:nvSpPr>
        <p:spPr>
          <a:xfrm>
            <a:off x="11277295" y="6473952"/>
            <a:ext cx="274320" cy="274320"/>
          </a:xfrm>
          <a:prstGeom prst="rect">
            <a:avLst/>
          </a:prstGeom>
          <a:noFill/>
          <a:ln/>
        </p:spPr>
        <p:txBody>
          <a:bodyPr wrap="square" lIns="0" tIns="0" rIns="0" bIns="0" rtlCol="0" anchor="ctr"/>
          <a:lstStyle/>
          <a:p>
            <a:pPr algn="r" indent="0" marL="0">
              <a:buNone/>
            </a:pPr>
            <a:r>
              <a:rPr lang="en-US" sz="900" dirty="0">
                <a:solidFill>
                  <a:srgbClr val="5B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640080" y="640080"/>
            <a:ext cx="292608" cy="292608"/>
          </a:xfrm>
          <a:prstGeom prst="rect">
            <a:avLst/>
          </a:prstGeom>
          <a:solidFill>
            <a:srgbClr val="B8945F"/>
          </a:solidFill>
          <a:ln/>
        </p:spPr>
      </p:sp>
      <p:sp>
        <p:nvSpPr>
          <p:cNvPr id="3" name="Text 1"/>
          <p:cNvSpPr/>
          <p:nvPr/>
        </p:nvSpPr>
        <p:spPr>
          <a:xfrm>
            <a:off x="1051560" y="640080"/>
            <a:ext cx="3657600" cy="292608"/>
          </a:xfrm>
          <a:prstGeom prst="rect">
            <a:avLst/>
          </a:prstGeom>
          <a:noFill/>
          <a:ln/>
        </p:spPr>
        <p:txBody>
          <a:bodyPr wrap="square" lIns="0" tIns="0" rIns="0" bIns="0" rtlCol="0" anchor="ctr"/>
          <a:lstStyle/>
          <a:p>
            <a:pPr indent="0" marL="0">
              <a:buNone/>
            </a:pPr>
            <a:r>
              <a:rPr lang="en-US" sz="1100" spc="400" kern="0" dirty="0">
                <a:solidFill>
                  <a:srgbClr val="E5E9F0"/>
                </a:solidFill>
                <a:latin typeface="Calibri" pitchFamily="34" charset="0"/>
                <a:ea typeface="Calibri" pitchFamily="34" charset="-122"/>
                <a:cs typeface="Calibri" pitchFamily="34" charset="-120"/>
              </a:rPr>
              <a:t>Closing</a:t>
            </a:r>
            <a:endParaRPr lang="en-US" sz="1100" dirty="0"/>
          </a:p>
        </p:txBody>
      </p:sp>
      <p:sp>
        <p:nvSpPr>
          <p:cNvPr id="4" name="Text 2"/>
          <p:cNvSpPr/>
          <p:nvPr/>
        </p:nvSpPr>
        <p:spPr>
          <a:xfrm>
            <a:off x="640080" y="1920240"/>
            <a:ext cx="1371600" cy="1371600"/>
          </a:xfrm>
          <a:prstGeom prst="rect">
            <a:avLst/>
          </a:prstGeom>
          <a:noFill/>
          <a:ln/>
        </p:spPr>
        <p:txBody>
          <a:bodyPr wrap="square" lIns="0" tIns="0" rIns="0" bIns="0" rtlCol="0" anchor="ctr"/>
          <a:lstStyle/>
          <a:p>
            <a:pPr indent="0" marL="0">
              <a:buNone/>
            </a:pPr>
            <a:r>
              <a:rPr lang="en-US" sz="12000" b="1" dirty="0">
                <a:solidFill>
                  <a:srgbClr val="B8945F"/>
                </a:solidFill>
                <a:latin typeface="Georgia" pitchFamily="34" charset="0"/>
                <a:ea typeface="Georgia" pitchFamily="34" charset="-122"/>
                <a:cs typeface="Georgia" pitchFamily="34" charset="-120"/>
              </a:rPr>
              <a:t>“</a:t>
            </a:r>
            <a:endParaRPr lang="en-US" sz="12000" dirty="0"/>
          </a:p>
        </p:txBody>
      </p:sp>
      <p:sp>
        <p:nvSpPr>
          <p:cNvPr id="5" name="Text 3"/>
          <p:cNvSpPr/>
          <p:nvPr/>
        </p:nvSpPr>
        <p:spPr>
          <a:xfrm>
            <a:off x="1554480" y="2286000"/>
            <a:ext cx="9997135" cy="2194560"/>
          </a:xfrm>
          <a:prstGeom prst="rect">
            <a:avLst/>
          </a:prstGeom>
          <a:noFill/>
          <a:ln/>
        </p:spPr>
        <p:txBody>
          <a:bodyPr wrap="square" lIns="0" tIns="0" rIns="0" bIns="0" rtlCol="0" anchor="t"/>
          <a:lstStyle/>
          <a:p>
            <a:pPr indent="0" marL="0">
              <a:buNone/>
            </a:pPr>
            <a:r>
              <a:rPr lang="en-US" sz="3000" i="1" dirty="0">
                <a:solidFill>
                  <a:srgbClr val="E5E9F0"/>
                </a:solidFill>
                <a:latin typeface="Georgia" pitchFamily="34" charset="0"/>
                <a:ea typeface="Georgia" pitchFamily="34" charset="-122"/>
                <a:cs typeface="Georgia" pitchFamily="34" charset="-120"/>
              </a:rPr>
              <a:t>Correctness is a structural property of the contract grammar, not an operational property of any particular run.</a:t>
            </a:r>
            <a:endParaRPr lang="en-US" sz="3000" dirty="0"/>
          </a:p>
        </p:txBody>
      </p:sp>
      <p:sp>
        <p:nvSpPr>
          <p:cNvPr id="6" name="Shape 4"/>
          <p:cNvSpPr/>
          <p:nvPr/>
        </p:nvSpPr>
        <p:spPr>
          <a:xfrm>
            <a:off x="1554480" y="4754880"/>
            <a:ext cx="457200" cy="27432"/>
          </a:xfrm>
          <a:prstGeom prst="rect">
            <a:avLst/>
          </a:prstGeom>
          <a:solidFill>
            <a:srgbClr val="B8945F"/>
          </a:solidFill>
          <a:ln/>
        </p:spPr>
      </p:sp>
      <p:sp>
        <p:nvSpPr>
          <p:cNvPr id="7" name="Text 5"/>
          <p:cNvSpPr/>
          <p:nvPr/>
        </p:nvSpPr>
        <p:spPr>
          <a:xfrm>
            <a:off x="1554480" y="4828032"/>
            <a:ext cx="9997135" cy="365760"/>
          </a:xfrm>
          <a:prstGeom prst="rect">
            <a:avLst/>
          </a:prstGeom>
          <a:noFill/>
          <a:ln/>
        </p:spPr>
        <p:txBody>
          <a:bodyPr wrap="square" lIns="0" tIns="0" rIns="0" bIns="0" rtlCol="0" anchor="ctr"/>
          <a:lstStyle/>
          <a:p>
            <a:pPr indent="0" marL="0">
              <a:buNone/>
            </a:pPr>
            <a:r>
              <a:rPr lang="en-US" sz="1300" spc="200" kern="0" dirty="0">
                <a:solidFill>
                  <a:srgbClr val="B8945F"/>
                </a:solidFill>
                <a:latin typeface="Calibri" pitchFamily="34" charset="0"/>
                <a:ea typeface="Calibri" pitchFamily="34" charset="-122"/>
                <a:cs typeface="Calibri" pitchFamily="34" charset="-120"/>
              </a:rPr>
              <a:t>Platform Overview. bc-docs-v3.</a:t>
            </a:r>
            <a:endParaRPr lang="en-US" sz="1300" dirty="0"/>
          </a:p>
        </p:txBody>
      </p:sp>
      <p:sp>
        <p:nvSpPr>
          <p:cNvPr id="8" name="Text 6"/>
          <p:cNvSpPr/>
          <p:nvPr/>
        </p:nvSpPr>
        <p:spPr>
          <a:xfrm>
            <a:off x="640080" y="6217920"/>
            <a:ext cx="10911535" cy="365760"/>
          </a:xfrm>
          <a:prstGeom prst="rect">
            <a:avLst/>
          </a:prstGeom>
          <a:noFill/>
          <a:ln/>
        </p:spPr>
        <p:txBody>
          <a:bodyPr wrap="square" lIns="0" tIns="0" rIns="0" bIns="0" rtlCol="0" anchor="ctr"/>
          <a:lstStyle/>
          <a:p>
            <a:pPr indent="0" marL="0">
              <a:buNone/>
            </a:pPr>
            <a:r>
              <a:rPr lang="en-US" sz="1100" spc="300" kern="0" dirty="0">
                <a:solidFill>
                  <a:srgbClr val="5B6478"/>
                </a:solidFill>
                <a:latin typeface="Calibri" pitchFamily="34" charset="0"/>
                <a:ea typeface="Calibri" pitchFamily="34" charset="-122"/>
                <a:cs typeface="Calibri" pitchFamily="34" charset="-120"/>
              </a:rPr>
              <a:t>BareCount  ·  the enterprise observation platform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BareCount — The enterprise observation platform</dc:title>
  <dc:subject>PptxGenJS Presentation</dc:subject>
  <dc:creator>BareCount</dc:creator>
  <cp:lastModifiedBy>BareCount</cp:lastModifiedBy>
  <cp:revision>1</cp:revision>
  <dcterms:created xsi:type="dcterms:W3CDTF">2026-05-18T16:43:43Z</dcterms:created>
  <dcterms:modified xsi:type="dcterms:W3CDTF">2026-05-18T16:43:43Z</dcterms:modified>
</cp:coreProperties>
</file>